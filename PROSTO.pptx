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Anton"/>
      <p:regular r:id="rId16"/>
    </p:embeddedFont>
    <p:embeddedFont>
      <p:font typeface="Nunito Sans Medium"/>
      <p:regular r:id="rId17"/>
      <p:bold r:id="rId18"/>
      <p:italic r:id="rId19"/>
      <p:boldItalic r:id="rId20"/>
    </p:embeddedFont>
    <p:embeddedFont>
      <p:font typeface="Nunito Sans SemiBold"/>
      <p:regular r:id="rId21"/>
      <p:bold r:id="rId22"/>
      <p:italic r:id="rId23"/>
      <p:boldItalic r:id="rId24"/>
    </p:embeddedFont>
    <p:embeddedFont>
      <p:font typeface="Courier Prime"/>
      <p:regular r:id="rId25"/>
      <p:bold r:id="rId26"/>
      <p:italic r:id="rId27"/>
      <p:boldItalic r:id="rId28"/>
    </p:embeddedFont>
    <p:embeddedFont>
      <p:font typeface="Nunito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hygj1weXyGMKNu7hgotGEe/wtq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ansMedium-boldItalic.fntdata"/><Relationship Id="rId22" Type="http://schemas.openxmlformats.org/officeDocument/2006/relationships/font" Target="fonts/NunitoSansSemiBold-bold.fntdata"/><Relationship Id="rId21" Type="http://schemas.openxmlformats.org/officeDocument/2006/relationships/font" Target="fonts/NunitoSansSemiBold-regular.fntdata"/><Relationship Id="rId24" Type="http://schemas.openxmlformats.org/officeDocument/2006/relationships/font" Target="fonts/NunitoSansSemiBold-boldItalic.fntdata"/><Relationship Id="rId23" Type="http://schemas.openxmlformats.org/officeDocument/2006/relationships/font" Target="fonts/NunitoSa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urierPrime-bold.fntdata"/><Relationship Id="rId25" Type="http://schemas.openxmlformats.org/officeDocument/2006/relationships/font" Target="fonts/CourierPrime-regular.fntdata"/><Relationship Id="rId28" Type="http://schemas.openxmlformats.org/officeDocument/2006/relationships/font" Target="fonts/CourierPrime-boldItalic.fntdata"/><Relationship Id="rId27" Type="http://schemas.openxmlformats.org/officeDocument/2006/relationships/font" Target="fonts/CourierPrim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Sans-italic.fntdata"/><Relationship Id="rId30" Type="http://schemas.openxmlformats.org/officeDocument/2006/relationships/font" Target="fonts/NunitoSans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Nunito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SansMedium-regular.fntdata"/><Relationship Id="rId16" Type="http://schemas.openxmlformats.org/officeDocument/2006/relationships/font" Target="fonts/Anton-regular.fntdata"/><Relationship Id="rId19" Type="http://schemas.openxmlformats.org/officeDocument/2006/relationships/font" Target="fonts/NunitoSansMedium-italic.fntdata"/><Relationship Id="rId18" Type="http://schemas.openxmlformats.org/officeDocument/2006/relationships/font" Target="fonts/Nunito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cd290b054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5cd290b054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cd290b05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5cd290b054_0_4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cd290b054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5cd290b054_0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cd290b054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5cd290b054_0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cd290b054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5cd290b054_0_5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cd290b054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5cd290b054_0_5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cd290b05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5cd290b054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7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11" Type="http://schemas.openxmlformats.org/officeDocument/2006/relationships/image" Target="../media/image19.png"/><Relationship Id="rId10" Type="http://schemas.openxmlformats.org/officeDocument/2006/relationships/image" Target="../media/image13.png"/><Relationship Id="rId12" Type="http://schemas.openxmlformats.org/officeDocument/2006/relationships/image" Target="../media/image21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35cd290b054_0_173"/>
          <p:cNvGrpSpPr/>
          <p:nvPr/>
        </p:nvGrpSpPr>
        <p:grpSpPr>
          <a:xfrm>
            <a:off x="-2121151" y="-397001"/>
            <a:ext cx="22876568" cy="11447809"/>
            <a:chOff x="0" y="0"/>
            <a:chExt cx="30502090" cy="15263745"/>
          </a:xfrm>
        </p:grpSpPr>
        <p:sp>
          <p:nvSpPr>
            <p:cNvPr id="85" name="Google Shape;85;g35cd290b054_0_173"/>
            <p:cNvSpPr/>
            <p:nvPr/>
          </p:nvSpPr>
          <p:spPr>
            <a:xfrm>
              <a:off x="0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6" name="Google Shape;86;g35cd290b054_0_173"/>
            <p:cNvSpPr/>
            <p:nvPr/>
          </p:nvSpPr>
          <p:spPr>
            <a:xfrm>
              <a:off x="15238345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87" name="Google Shape;87;g35cd290b054_0_173"/>
          <p:cNvSpPr txBox="1"/>
          <p:nvPr/>
        </p:nvSpPr>
        <p:spPr>
          <a:xfrm>
            <a:off x="615757" y="3441455"/>
            <a:ext cx="170565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63" u="none" cap="none" strike="noStrike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PROSTO</a:t>
            </a:r>
            <a:endParaRPr/>
          </a:p>
        </p:txBody>
      </p:sp>
      <p:sp>
        <p:nvSpPr>
          <p:cNvPr id="88" name="Google Shape;88;g35cd290b054_0_173"/>
          <p:cNvSpPr/>
          <p:nvPr/>
        </p:nvSpPr>
        <p:spPr>
          <a:xfrm>
            <a:off x="2358180" y="4165025"/>
            <a:ext cx="354514" cy="354514"/>
          </a:xfrm>
          <a:custGeom>
            <a:rect b="b" l="l" r="r" t="t"/>
            <a:pathLst>
              <a:path extrusionOk="0" h="354514" w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9" name="Google Shape;89;g35cd290b054_0_173"/>
          <p:cNvGrpSpPr/>
          <p:nvPr/>
        </p:nvGrpSpPr>
        <p:grpSpPr>
          <a:xfrm>
            <a:off x="809625" y="8973677"/>
            <a:ext cx="3244853" cy="501970"/>
            <a:chOff x="0" y="-19869"/>
            <a:chExt cx="4326471" cy="669293"/>
          </a:xfrm>
        </p:grpSpPr>
        <p:grpSp>
          <p:nvGrpSpPr>
            <p:cNvPr id="90" name="Google Shape;90;g35cd290b054_0_173"/>
            <p:cNvGrpSpPr/>
            <p:nvPr/>
          </p:nvGrpSpPr>
          <p:grpSpPr>
            <a:xfrm>
              <a:off x="0" y="-19869"/>
              <a:ext cx="4326471" cy="669293"/>
              <a:chOff x="0" y="-38100"/>
              <a:chExt cx="8296205" cy="1283400"/>
            </a:xfrm>
          </p:grpSpPr>
          <p:sp>
            <p:nvSpPr>
              <p:cNvPr id="91" name="Google Shape;91;g35cd290b054_0_173"/>
              <p:cNvSpPr/>
              <p:nvPr/>
            </p:nvSpPr>
            <p:spPr>
              <a:xfrm>
                <a:off x="0" y="0"/>
                <a:ext cx="8296205" cy="1245268"/>
              </a:xfrm>
              <a:custGeom>
                <a:rect b="b" l="l" r="r" t="t"/>
                <a:pathLst>
                  <a:path extrusionOk="0" h="1245268" w="8296205">
                    <a:moveTo>
                      <a:pt x="83315" y="0"/>
                    </a:moveTo>
                    <a:lnTo>
                      <a:pt x="8212890" y="0"/>
                    </a:lnTo>
                    <a:cubicBezTo>
                      <a:pt x="8258904" y="0"/>
                      <a:pt x="8296205" y="37301"/>
                      <a:pt x="8296205" y="83315"/>
                    </a:cubicBezTo>
                    <a:lnTo>
                      <a:pt x="8296205" y="1161953"/>
                    </a:lnTo>
                    <a:cubicBezTo>
                      <a:pt x="8296205" y="1207966"/>
                      <a:pt x="8258904" y="1245268"/>
                      <a:pt x="8212890" y="1245268"/>
                    </a:cubicBezTo>
                    <a:lnTo>
                      <a:pt x="83315" y="1245268"/>
                    </a:lnTo>
                    <a:cubicBezTo>
                      <a:pt x="37301" y="1245268"/>
                      <a:pt x="0" y="1207966"/>
                      <a:pt x="0" y="1161953"/>
                    </a:cubicBezTo>
                    <a:lnTo>
                      <a:pt x="0" y="83315"/>
                    </a:lnTo>
                    <a:cubicBezTo>
                      <a:pt x="0" y="37301"/>
                      <a:pt x="37301" y="0"/>
                      <a:pt x="83315" y="0"/>
                    </a:cubicBezTo>
                    <a:close/>
                  </a:path>
                </a:pathLst>
              </a:custGeom>
              <a:solidFill>
                <a:srgbClr val="F1F1F1"/>
              </a:solidFill>
              <a:ln cap="rnd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g35cd290b054_0_173"/>
              <p:cNvSpPr txBox="1"/>
              <p:nvPr/>
            </p:nvSpPr>
            <p:spPr>
              <a:xfrm>
                <a:off x="0" y="-38100"/>
                <a:ext cx="8296200" cy="128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700" lIns="12700" spcFirstLastPara="1" rIns="12700" wrap="square" tIns="12700">
                <a:noAutofit/>
              </a:bodyPr>
              <a:lstStyle/>
              <a:p>
                <a:pPr indent="0" lvl="0" marL="0" marR="0" rtl="0" algn="ctr">
                  <a:lnSpc>
                    <a:spcPct val="146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440" u="none" cap="none" strike="noStrike">
                    <a:solidFill>
                      <a:srgbClr val="211F1C"/>
                    </a:solidFill>
                    <a:latin typeface="Nunito Sans SemiBold"/>
                    <a:ea typeface="Nunito Sans SemiBold"/>
                    <a:cs typeface="Nunito Sans SemiBold"/>
                    <a:sym typeface="Nunito Sans SemiBold"/>
                  </a:rPr>
                  <a:t>ETHBRATISLAVA</a:t>
                </a:r>
                <a:endParaRPr/>
              </a:p>
            </p:txBody>
          </p:sp>
        </p:grpSp>
        <p:sp>
          <p:nvSpPr>
            <p:cNvPr id="93" name="Google Shape;93;g35cd290b054_0_173"/>
            <p:cNvSpPr/>
            <p:nvPr/>
          </p:nvSpPr>
          <p:spPr>
            <a:xfrm>
              <a:off x="3642598" y="131263"/>
              <a:ext cx="385167" cy="385167"/>
            </a:xfrm>
            <a:custGeom>
              <a:rect b="b" l="l" r="r" t="t"/>
              <a:pathLst>
                <a:path extrusionOk="0" h="385167" w="385167">
                  <a:moveTo>
                    <a:pt x="0" y="0"/>
                  </a:moveTo>
                  <a:lnTo>
                    <a:pt x="385167" y="0"/>
                  </a:lnTo>
                  <a:lnTo>
                    <a:pt x="385167" y="385167"/>
                  </a:lnTo>
                  <a:lnTo>
                    <a:pt x="0" y="3851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4" name="Google Shape;94;g35cd290b054_0_173"/>
            <p:cNvSpPr/>
            <p:nvPr/>
          </p:nvSpPr>
          <p:spPr>
            <a:xfrm>
              <a:off x="298597" y="132961"/>
              <a:ext cx="385167" cy="385167"/>
            </a:xfrm>
            <a:custGeom>
              <a:rect b="b" l="l" r="r" t="t"/>
              <a:pathLst>
                <a:path extrusionOk="0" h="385167" w="385167">
                  <a:moveTo>
                    <a:pt x="0" y="0"/>
                  </a:moveTo>
                  <a:lnTo>
                    <a:pt x="385167" y="0"/>
                  </a:lnTo>
                  <a:lnTo>
                    <a:pt x="385167" y="385166"/>
                  </a:lnTo>
                  <a:lnTo>
                    <a:pt x="0" y="3851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95" name="Google Shape;95;g35cd290b054_0_173"/>
          <p:cNvSpPr/>
          <p:nvPr/>
        </p:nvSpPr>
        <p:spPr>
          <a:xfrm>
            <a:off x="15575306" y="4165025"/>
            <a:ext cx="354514" cy="354514"/>
          </a:xfrm>
          <a:custGeom>
            <a:rect b="b" l="l" r="r" t="t"/>
            <a:pathLst>
              <a:path extrusionOk="0" h="354514" w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g35cd290b054_0_173"/>
          <p:cNvSpPr/>
          <p:nvPr/>
        </p:nvSpPr>
        <p:spPr>
          <a:xfrm rot="-648833">
            <a:off x="11432741" y="5298307"/>
            <a:ext cx="5256898" cy="1326101"/>
          </a:xfrm>
          <a:custGeom>
            <a:rect b="b" l="l" r="r" t="t"/>
            <a:pathLst>
              <a:path extrusionOk="0" h="1325794" w="3867824">
                <a:moveTo>
                  <a:pt x="0" y="0"/>
                </a:moveTo>
                <a:lnTo>
                  <a:pt x="3867824" y="0"/>
                </a:lnTo>
                <a:lnTo>
                  <a:pt x="3867824" y="1325794"/>
                </a:lnTo>
                <a:lnTo>
                  <a:pt x="0" y="1325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20332" l="-20218" r="-41168" t="-154677"/>
            </a:stretch>
          </a:blipFill>
          <a:ln>
            <a:noFill/>
          </a:ln>
        </p:spPr>
      </p:sp>
      <p:sp>
        <p:nvSpPr>
          <p:cNvPr id="97" name="Google Shape;97;g35cd290b054_0_173"/>
          <p:cNvSpPr txBox="1"/>
          <p:nvPr/>
        </p:nvSpPr>
        <p:spPr>
          <a:xfrm rot="-646802">
            <a:off x="11031404" y="5432690"/>
            <a:ext cx="6043656" cy="17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5" u="none" cap="none" strike="noStrike">
                <a:solidFill>
                  <a:schemeClr val="lt1"/>
                </a:solidFill>
                <a:latin typeface="Courier Prime"/>
                <a:ea typeface="Courier Prime"/>
                <a:cs typeface="Courier Prime"/>
                <a:sym typeface="Courier Prime"/>
              </a:rPr>
              <a:t>REAL WORLD</a:t>
            </a:r>
            <a:endParaRPr sz="2855">
              <a:solidFill>
                <a:schemeClr val="lt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ctr">
              <a:lnSpc>
                <a:spcPct val="14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5" u="none" cap="none" strike="noStrike">
                <a:solidFill>
                  <a:schemeClr val="lt1"/>
                </a:solidFill>
                <a:latin typeface="Courier Prime"/>
                <a:ea typeface="Courier Prime"/>
                <a:cs typeface="Courier Prime"/>
                <a:sym typeface="Courier Prime"/>
              </a:rPr>
              <a:t>TOKENIZATION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576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55" u="none" cap="none" strike="noStrike">
              <a:solidFill>
                <a:schemeClr val="lt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98" name="Google Shape;98;g35cd290b054_0_173"/>
          <p:cNvSpPr/>
          <p:nvPr/>
        </p:nvSpPr>
        <p:spPr>
          <a:xfrm>
            <a:off x="6503594" y="5278222"/>
            <a:ext cx="5280812" cy="5280812"/>
          </a:xfrm>
          <a:custGeom>
            <a:rect b="b" l="l" r="r" t="t"/>
            <a:pathLst>
              <a:path extrusionOk="0" h="5280812" w="5280812">
                <a:moveTo>
                  <a:pt x="0" y="0"/>
                </a:moveTo>
                <a:lnTo>
                  <a:pt x="5280812" y="0"/>
                </a:lnTo>
                <a:lnTo>
                  <a:pt x="5280812" y="5280812"/>
                </a:lnTo>
                <a:lnTo>
                  <a:pt x="0" y="5280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g35cd290b054_0_173"/>
          <p:cNvSpPr txBox="1"/>
          <p:nvPr/>
        </p:nvSpPr>
        <p:spPr>
          <a:xfrm>
            <a:off x="3807192" y="2427283"/>
            <a:ext cx="1067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11F1C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TEAM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431360" y="491704"/>
            <a:ext cx="17613238" cy="9304528"/>
          </a:xfrm>
          <a:custGeom>
            <a:rect b="b" l="l" r="r" t="t"/>
            <a:pathLst>
              <a:path extrusionOk="0" h="812800" w="1538610">
                <a:moveTo>
                  <a:pt x="10111" y="0"/>
                </a:moveTo>
                <a:lnTo>
                  <a:pt x="1528500" y="0"/>
                </a:lnTo>
                <a:cubicBezTo>
                  <a:pt x="1534084" y="0"/>
                  <a:pt x="1538610" y="4527"/>
                  <a:pt x="1538610" y="10111"/>
                </a:cubicBezTo>
                <a:lnTo>
                  <a:pt x="1538610" y="802689"/>
                </a:lnTo>
                <a:cubicBezTo>
                  <a:pt x="1538610" y="808273"/>
                  <a:pt x="1534084" y="812800"/>
                  <a:pt x="1528500" y="812800"/>
                </a:cubicBezTo>
                <a:lnTo>
                  <a:pt x="10111" y="812800"/>
                </a:lnTo>
                <a:cubicBezTo>
                  <a:pt x="4527" y="812800"/>
                  <a:pt x="0" y="808273"/>
                  <a:pt x="0" y="802689"/>
                </a:cubicBezTo>
                <a:lnTo>
                  <a:pt x="0" y="10111"/>
                </a:lnTo>
                <a:cubicBezTo>
                  <a:pt x="0" y="4527"/>
                  <a:pt x="4527" y="0"/>
                  <a:pt x="101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2"/>
          <p:cNvGrpSpPr/>
          <p:nvPr/>
        </p:nvGrpSpPr>
        <p:grpSpPr>
          <a:xfrm>
            <a:off x="-2121151" y="-397001"/>
            <a:ext cx="22876568" cy="11447809"/>
            <a:chOff x="0" y="0"/>
            <a:chExt cx="30502090" cy="15263745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7" name="Google Shape;107;p2"/>
            <p:cNvSpPr/>
            <p:nvPr/>
          </p:nvSpPr>
          <p:spPr>
            <a:xfrm>
              <a:off x="15238345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08" name="Google Shape;108;p2"/>
          <p:cNvGrpSpPr/>
          <p:nvPr/>
        </p:nvGrpSpPr>
        <p:grpSpPr>
          <a:xfrm>
            <a:off x="2879051" y="3643800"/>
            <a:ext cx="6078611" cy="1141105"/>
            <a:chOff x="-125086" y="-153"/>
            <a:chExt cx="2249171" cy="391500"/>
          </a:xfrm>
        </p:grpSpPr>
        <p:sp>
          <p:nvSpPr>
            <p:cNvPr id="109" name="Google Shape;109;p2"/>
            <p:cNvSpPr/>
            <p:nvPr/>
          </p:nvSpPr>
          <p:spPr>
            <a:xfrm>
              <a:off x="-125086" y="10"/>
              <a:ext cx="2249171" cy="391174"/>
            </a:xfrm>
            <a:custGeom>
              <a:rect b="b" l="l" r="r" t="t"/>
              <a:pathLst>
                <a:path extrusionOk="0"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-63998" y="-153"/>
              <a:ext cx="21270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rtl="0" algn="ctr">
                <a:lnSpc>
                  <a:spcPct val="211735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lang="en-US" sz="175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LONG CLOSING PROCESSES (WEEKS/MONTHS)</a:t>
              </a:r>
              <a:endParaRPr b="1" sz="1739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1532700" y="3643799"/>
            <a:ext cx="1122247" cy="1141110"/>
            <a:chOff x="0" y="-17103"/>
            <a:chExt cx="286200" cy="296100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286166" cy="278912"/>
            </a:xfrm>
            <a:custGeom>
              <a:rect b="b" l="l" r="r" t="t"/>
              <a:pathLst>
                <a:path extrusionOk="0"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17103"/>
              <a:ext cx="2862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47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1</a:t>
              </a:r>
              <a:endParaRPr sz="2400"/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1532700" y="2147674"/>
            <a:ext cx="12114600" cy="1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42" u="none" cap="none" strike="noStrike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THE REAL ESTATE MARKET IS BROKEN</a:t>
            </a: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11093451" y="3662400"/>
            <a:ext cx="6078611" cy="1141105"/>
            <a:chOff x="-125086" y="-153"/>
            <a:chExt cx="2249171" cy="391500"/>
          </a:xfrm>
        </p:grpSpPr>
        <p:sp>
          <p:nvSpPr>
            <p:cNvPr id="116" name="Google Shape;116;p2"/>
            <p:cNvSpPr/>
            <p:nvPr/>
          </p:nvSpPr>
          <p:spPr>
            <a:xfrm>
              <a:off x="-125086" y="10"/>
              <a:ext cx="2249171" cy="391174"/>
            </a:xfrm>
            <a:custGeom>
              <a:rect b="b" l="l" r="r" t="t"/>
              <a:pathLst>
                <a:path extrusionOk="0"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-63998" y="-153"/>
              <a:ext cx="21270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rtl="0" algn="ctr">
                <a:lnSpc>
                  <a:spcPct val="147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39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LEGAL COMPLEXITY AND BUREAUCRACY</a:t>
              </a:r>
              <a:endParaRPr b="1" sz="1739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9747100" y="3662399"/>
            <a:ext cx="1122247" cy="1141110"/>
            <a:chOff x="0" y="-17103"/>
            <a:chExt cx="286200" cy="296100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286166" cy="278912"/>
            </a:xfrm>
            <a:custGeom>
              <a:rect b="b" l="l" r="r" t="t"/>
              <a:pathLst>
                <a:path extrusionOk="0"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17103"/>
              <a:ext cx="2862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47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Nunito Sans"/>
                  <a:ea typeface="Nunito Sans"/>
                  <a:cs typeface="Nunito Sans"/>
                  <a:sym typeface="Nunito Sans"/>
                </a:rPr>
                <a:t>4</a:t>
              </a:r>
              <a:endParaRPr sz="2400"/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2879051" y="5080400"/>
            <a:ext cx="6078611" cy="1141105"/>
            <a:chOff x="-125086" y="-153"/>
            <a:chExt cx="2249171" cy="391500"/>
          </a:xfrm>
        </p:grpSpPr>
        <p:sp>
          <p:nvSpPr>
            <p:cNvPr id="122" name="Google Shape;122;p2"/>
            <p:cNvSpPr/>
            <p:nvPr/>
          </p:nvSpPr>
          <p:spPr>
            <a:xfrm>
              <a:off x="-125086" y="10"/>
              <a:ext cx="2249171" cy="391174"/>
            </a:xfrm>
            <a:custGeom>
              <a:rect b="b" l="l" r="r" t="t"/>
              <a:pathLst>
                <a:path extrusionOk="0"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-63998" y="-153"/>
              <a:ext cx="21270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rtl="0" algn="ctr">
                <a:lnSpc>
                  <a:spcPct val="147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39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LACK OF TRANSPARENCY AND TRUST</a:t>
              </a:r>
              <a:endParaRPr b="1" sz="175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532700" y="5080399"/>
            <a:ext cx="1122247" cy="1141110"/>
            <a:chOff x="0" y="-17103"/>
            <a:chExt cx="286200" cy="296100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286166" cy="278912"/>
            </a:xfrm>
            <a:custGeom>
              <a:rect b="b" l="l" r="r" t="t"/>
              <a:pathLst>
                <a:path extrusionOk="0"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0" y="-17103"/>
              <a:ext cx="2862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47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Nunito Sans"/>
                  <a:ea typeface="Nunito Sans"/>
                  <a:cs typeface="Nunito Sans"/>
                  <a:sym typeface="Nunito Sans"/>
                </a:rPr>
                <a:t>2</a:t>
              </a:r>
              <a:endParaRPr sz="2400"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093451" y="5089700"/>
            <a:ext cx="6078611" cy="1141105"/>
            <a:chOff x="-125086" y="-153"/>
            <a:chExt cx="2249171" cy="391500"/>
          </a:xfrm>
        </p:grpSpPr>
        <p:sp>
          <p:nvSpPr>
            <p:cNvPr id="128" name="Google Shape;128;p2"/>
            <p:cNvSpPr/>
            <p:nvPr/>
          </p:nvSpPr>
          <p:spPr>
            <a:xfrm>
              <a:off x="-125086" y="10"/>
              <a:ext cx="2249171" cy="391174"/>
            </a:xfrm>
            <a:custGeom>
              <a:rect b="b" l="l" r="r" t="t"/>
              <a:pathLst>
                <a:path extrusionOk="0"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-63998" y="-153"/>
              <a:ext cx="21270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rtl="0" algn="ctr">
                <a:lnSpc>
                  <a:spcPct val="147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39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LIMITED GLOBAL ACCESS TO FOREIGN PROPERTY</a:t>
              </a:r>
              <a:endParaRPr b="1" sz="1739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9747100" y="5089699"/>
            <a:ext cx="1122247" cy="1141110"/>
            <a:chOff x="0" y="-17103"/>
            <a:chExt cx="286200" cy="296100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286166" cy="278912"/>
            </a:xfrm>
            <a:custGeom>
              <a:rect b="b" l="l" r="r" t="t"/>
              <a:pathLst>
                <a:path extrusionOk="0"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0" y="-17103"/>
              <a:ext cx="2862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47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Nunito Sans"/>
                  <a:ea typeface="Nunito Sans"/>
                  <a:cs typeface="Nunito Sans"/>
                  <a:sym typeface="Nunito Sans"/>
                </a:rPr>
                <a:t>5</a:t>
              </a:r>
              <a:endParaRPr sz="2400"/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9747100" y="6516999"/>
            <a:ext cx="1122247" cy="1141110"/>
            <a:chOff x="0" y="-17103"/>
            <a:chExt cx="286200" cy="296100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286166" cy="278912"/>
            </a:xfrm>
            <a:custGeom>
              <a:rect b="b" l="l" r="r" t="t"/>
              <a:pathLst>
                <a:path extrusionOk="0"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0" y="-17103"/>
              <a:ext cx="2862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47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Nunito Sans"/>
                  <a:ea typeface="Nunito Sans"/>
                  <a:cs typeface="Nunito Sans"/>
                  <a:sym typeface="Nunito Sans"/>
                </a:rPr>
                <a:t>6</a:t>
              </a:r>
              <a:endParaRPr sz="2400"/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532700" y="6516999"/>
            <a:ext cx="1122247" cy="1141110"/>
            <a:chOff x="0" y="-17103"/>
            <a:chExt cx="286200" cy="296100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286166" cy="278912"/>
            </a:xfrm>
            <a:custGeom>
              <a:rect b="b" l="l" r="r" t="t"/>
              <a:pathLst>
                <a:path extrusionOk="0"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0" y="-17103"/>
              <a:ext cx="2862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47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Nunito Sans"/>
                  <a:ea typeface="Nunito Sans"/>
                  <a:cs typeface="Nunito Sans"/>
                  <a:sym typeface="Nunito Sans"/>
                </a:rPr>
                <a:t>3</a:t>
              </a:r>
              <a:endParaRPr sz="2400"/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2879051" y="6517000"/>
            <a:ext cx="6078611" cy="1141105"/>
            <a:chOff x="-125086" y="-153"/>
            <a:chExt cx="2249171" cy="391500"/>
          </a:xfrm>
        </p:grpSpPr>
        <p:sp>
          <p:nvSpPr>
            <p:cNvPr id="140" name="Google Shape;140;p2"/>
            <p:cNvSpPr/>
            <p:nvPr/>
          </p:nvSpPr>
          <p:spPr>
            <a:xfrm>
              <a:off x="-125086" y="10"/>
              <a:ext cx="2249171" cy="391174"/>
            </a:xfrm>
            <a:custGeom>
              <a:rect b="b" l="l" r="r" t="t"/>
              <a:pathLst>
                <a:path extrusionOk="0"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-63998" y="-153"/>
              <a:ext cx="21270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rtl="0" algn="ctr">
                <a:lnSpc>
                  <a:spcPct val="176446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lang="en-US" sz="175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NO TRANSPARENT OWNERSHIP VERIFICATION</a:t>
              </a:r>
              <a:endParaRPr b="1" sz="1739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</p:grpSp>
      <p:grpSp>
        <p:nvGrpSpPr>
          <p:cNvPr id="142" name="Google Shape;142;p2"/>
          <p:cNvGrpSpPr/>
          <p:nvPr/>
        </p:nvGrpSpPr>
        <p:grpSpPr>
          <a:xfrm>
            <a:off x="11093451" y="6517000"/>
            <a:ext cx="6078611" cy="1141105"/>
            <a:chOff x="-125086" y="-153"/>
            <a:chExt cx="2249171" cy="391500"/>
          </a:xfrm>
        </p:grpSpPr>
        <p:sp>
          <p:nvSpPr>
            <p:cNvPr id="143" name="Google Shape;143;p2"/>
            <p:cNvSpPr/>
            <p:nvPr/>
          </p:nvSpPr>
          <p:spPr>
            <a:xfrm>
              <a:off x="-125086" y="10"/>
              <a:ext cx="2249171" cy="391174"/>
            </a:xfrm>
            <a:custGeom>
              <a:rect b="b" l="l" r="r" t="t"/>
              <a:pathLst>
                <a:path extrusionOk="0"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"/>
            <p:cNvSpPr txBox="1"/>
            <p:nvPr/>
          </p:nvSpPr>
          <p:spPr>
            <a:xfrm>
              <a:off x="-63998" y="-153"/>
              <a:ext cx="21270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rtl="0" algn="ctr">
                <a:lnSpc>
                  <a:spcPct val="14703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1739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HIGH REALTOR FEES (UP TO 5%)</a:t>
              </a:r>
              <a:endParaRPr b="1" sz="1739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cd290b054_0_493"/>
          <p:cNvSpPr/>
          <p:nvPr/>
        </p:nvSpPr>
        <p:spPr>
          <a:xfrm>
            <a:off x="431360" y="491704"/>
            <a:ext cx="17613238" cy="9304528"/>
          </a:xfrm>
          <a:custGeom>
            <a:rect b="b" l="l" r="r" t="t"/>
            <a:pathLst>
              <a:path extrusionOk="0" h="812800" w="1538610">
                <a:moveTo>
                  <a:pt x="10111" y="0"/>
                </a:moveTo>
                <a:lnTo>
                  <a:pt x="1528500" y="0"/>
                </a:lnTo>
                <a:cubicBezTo>
                  <a:pt x="1534084" y="0"/>
                  <a:pt x="1538610" y="4527"/>
                  <a:pt x="1538610" y="10111"/>
                </a:cubicBezTo>
                <a:lnTo>
                  <a:pt x="1538610" y="802689"/>
                </a:lnTo>
                <a:cubicBezTo>
                  <a:pt x="1538610" y="808273"/>
                  <a:pt x="1534084" y="812800"/>
                  <a:pt x="1528500" y="812800"/>
                </a:cubicBezTo>
                <a:lnTo>
                  <a:pt x="10111" y="812800"/>
                </a:lnTo>
                <a:cubicBezTo>
                  <a:pt x="4527" y="812800"/>
                  <a:pt x="0" y="808273"/>
                  <a:pt x="0" y="802689"/>
                </a:cubicBezTo>
                <a:lnTo>
                  <a:pt x="0" y="10111"/>
                </a:lnTo>
                <a:cubicBezTo>
                  <a:pt x="0" y="4527"/>
                  <a:pt x="4527" y="0"/>
                  <a:pt x="101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" name="Google Shape;150;g35cd290b054_0_493"/>
          <p:cNvGrpSpPr/>
          <p:nvPr/>
        </p:nvGrpSpPr>
        <p:grpSpPr>
          <a:xfrm>
            <a:off x="-2121151" y="-397001"/>
            <a:ext cx="22876568" cy="11447809"/>
            <a:chOff x="0" y="0"/>
            <a:chExt cx="30502090" cy="15263745"/>
          </a:xfrm>
        </p:grpSpPr>
        <p:sp>
          <p:nvSpPr>
            <p:cNvPr id="151" name="Google Shape;151;g35cd290b054_0_493"/>
            <p:cNvSpPr/>
            <p:nvPr/>
          </p:nvSpPr>
          <p:spPr>
            <a:xfrm>
              <a:off x="0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2" name="Google Shape;152;g35cd290b054_0_493"/>
            <p:cNvSpPr/>
            <p:nvPr/>
          </p:nvSpPr>
          <p:spPr>
            <a:xfrm>
              <a:off x="15238345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53" name="Google Shape;153;g35cd290b054_0_493"/>
          <p:cNvGrpSpPr/>
          <p:nvPr/>
        </p:nvGrpSpPr>
        <p:grpSpPr>
          <a:xfrm>
            <a:off x="2879051" y="3643800"/>
            <a:ext cx="6078611" cy="1141105"/>
            <a:chOff x="-125086" y="-153"/>
            <a:chExt cx="2249171" cy="391500"/>
          </a:xfrm>
        </p:grpSpPr>
        <p:sp>
          <p:nvSpPr>
            <p:cNvPr id="154" name="Google Shape;154;g35cd290b054_0_493"/>
            <p:cNvSpPr/>
            <p:nvPr/>
          </p:nvSpPr>
          <p:spPr>
            <a:xfrm>
              <a:off x="-125086" y="10"/>
              <a:ext cx="2249171" cy="391174"/>
            </a:xfrm>
            <a:custGeom>
              <a:rect b="b" l="l" r="r" t="t"/>
              <a:pathLst>
                <a:path extrusionOk="0"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g35cd290b054_0_493"/>
            <p:cNvSpPr txBox="1"/>
            <p:nvPr/>
          </p:nvSpPr>
          <p:spPr>
            <a:xfrm>
              <a:off x="-63998" y="-153"/>
              <a:ext cx="21270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rtl="0" algn="ctr">
                <a:lnSpc>
                  <a:spcPct val="147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39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BUY &amp; SELL REAL ESTATE USING NFTS</a:t>
              </a:r>
              <a:endParaRPr b="1" sz="1739"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</p:grpSp>
      <p:grpSp>
        <p:nvGrpSpPr>
          <p:cNvPr id="156" name="Google Shape;156;g35cd290b054_0_493"/>
          <p:cNvGrpSpPr/>
          <p:nvPr/>
        </p:nvGrpSpPr>
        <p:grpSpPr>
          <a:xfrm>
            <a:off x="1532700" y="3643799"/>
            <a:ext cx="1122247" cy="1141110"/>
            <a:chOff x="0" y="-17103"/>
            <a:chExt cx="286200" cy="296100"/>
          </a:xfrm>
        </p:grpSpPr>
        <p:sp>
          <p:nvSpPr>
            <p:cNvPr id="157" name="Google Shape;157;g35cd290b054_0_493"/>
            <p:cNvSpPr/>
            <p:nvPr/>
          </p:nvSpPr>
          <p:spPr>
            <a:xfrm>
              <a:off x="0" y="0"/>
              <a:ext cx="286166" cy="278912"/>
            </a:xfrm>
            <a:custGeom>
              <a:rect b="b" l="l" r="r" t="t"/>
              <a:pathLst>
                <a:path extrusionOk="0"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g35cd290b054_0_493"/>
            <p:cNvSpPr txBox="1"/>
            <p:nvPr/>
          </p:nvSpPr>
          <p:spPr>
            <a:xfrm>
              <a:off x="0" y="-17103"/>
              <a:ext cx="2862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47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1</a:t>
              </a:r>
              <a:endParaRPr sz="2400"/>
            </a:p>
          </p:txBody>
        </p:sp>
      </p:grpSp>
      <p:sp>
        <p:nvSpPr>
          <p:cNvPr id="159" name="Google Shape;159;g35cd290b054_0_493"/>
          <p:cNvSpPr txBox="1"/>
          <p:nvPr/>
        </p:nvSpPr>
        <p:spPr>
          <a:xfrm>
            <a:off x="1361888" y="2147675"/>
            <a:ext cx="15910500" cy="1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4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d</a:t>
            </a:r>
            <a:r>
              <a:rPr lang="en-US" sz="6842">
                <a:solidFill>
                  <a:srgbClr val="7D52AF"/>
                </a:solidFill>
                <a:latin typeface="Anton"/>
                <a:ea typeface="Anton"/>
                <a:cs typeface="Anton"/>
                <a:sym typeface="Anton"/>
              </a:rPr>
              <a:t>EST </a:t>
            </a:r>
            <a:r>
              <a:rPr lang="en-US" sz="684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— Decentralized real estate marketplace</a:t>
            </a:r>
            <a:endParaRPr sz="6842">
              <a:solidFill>
                <a:srgbClr val="211F1C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60" name="Google Shape;160;g35cd290b054_0_493"/>
          <p:cNvGrpSpPr/>
          <p:nvPr/>
        </p:nvGrpSpPr>
        <p:grpSpPr>
          <a:xfrm>
            <a:off x="11093451" y="3662400"/>
            <a:ext cx="6078611" cy="1141105"/>
            <a:chOff x="-125086" y="-153"/>
            <a:chExt cx="2249171" cy="391500"/>
          </a:xfrm>
        </p:grpSpPr>
        <p:sp>
          <p:nvSpPr>
            <p:cNvPr id="161" name="Google Shape;161;g35cd290b054_0_493"/>
            <p:cNvSpPr/>
            <p:nvPr/>
          </p:nvSpPr>
          <p:spPr>
            <a:xfrm>
              <a:off x="-125086" y="10"/>
              <a:ext cx="2249171" cy="391174"/>
            </a:xfrm>
            <a:custGeom>
              <a:rect b="b" l="l" r="r" t="t"/>
              <a:pathLst>
                <a:path extrusionOk="0"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g35cd290b054_0_493"/>
            <p:cNvSpPr txBox="1"/>
            <p:nvPr/>
          </p:nvSpPr>
          <p:spPr>
            <a:xfrm>
              <a:off x="-63998" y="-153"/>
              <a:ext cx="21270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rtl="0" algn="ctr">
                <a:lnSpc>
                  <a:spcPct val="147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39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LOW FEES — FLAT 0.5% PLATFORM FEE VS 5%+ IN TRADITIONAL MARKETS</a:t>
              </a:r>
              <a:endParaRPr b="1" sz="1739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</p:grpSp>
      <p:grpSp>
        <p:nvGrpSpPr>
          <p:cNvPr id="163" name="Google Shape;163;g35cd290b054_0_493"/>
          <p:cNvGrpSpPr/>
          <p:nvPr/>
        </p:nvGrpSpPr>
        <p:grpSpPr>
          <a:xfrm>
            <a:off x="9747100" y="3662399"/>
            <a:ext cx="1122247" cy="1141110"/>
            <a:chOff x="0" y="-17103"/>
            <a:chExt cx="286200" cy="296100"/>
          </a:xfrm>
        </p:grpSpPr>
        <p:sp>
          <p:nvSpPr>
            <p:cNvPr id="164" name="Google Shape;164;g35cd290b054_0_493"/>
            <p:cNvSpPr/>
            <p:nvPr/>
          </p:nvSpPr>
          <p:spPr>
            <a:xfrm>
              <a:off x="0" y="0"/>
              <a:ext cx="286166" cy="278912"/>
            </a:xfrm>
            <a:custGeom>
              <a:rect b="b" l="l" r="r" t="t"/>
              <a:pathLst>
                <a:path extrusionOk="0"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g35cd290b054_0_493"/>
            <p:cNvSpPr txBox="1"/>
            <p:nvPr/>
          </p:nvSpPr>
          <p:spPr>
            <a:xfrm>
              <a:off x="0" y="-17103"/>
              <a:ext cx="2862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47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Nunito Sans"/>
                  <a:ea typeface="Nunito Sans"/>
                  <a:cs typeface="Nunito Sans"/>
                  <a:sym typeface="Nunito Sans"/>
                </a:rPr>
                <a:t>4</a:t>
              </a:r>
              <a:endParaRPr sz="2400"/>
            </a:p>
          </p:txBody>
        </p:sp>
      </p:grpSp>
      <p:grpSp>
        <p:nvGrpSpPr>
          <p:cNvPr id="166" name="Google Shape;166;g35cd290b054_0_493"/>
          <p:cNvGrpSpPr/>
          <p:nvPr/>
        </p:nvGrpSpPr>
        <p:grpSpPr>
          <a:xfrm>
            <a:off x="2879051" y="5080400"/>
            <a:ext cx="6078611" cy="1141105"/>
            <a:chOff x="-125086" y="-153"/>
            <a:chExt cx="2249171" cy="391500"/>
          </a:xfrm>
        </p:grpSpPr>
        <p:sp>
          <p:nvSpPr>
            <p:cNvPr id="167" name="Google Shape;167;g35cd290b054_0_493"/>
            <p:cNvSpPr/>
            <p:nvPr/>
          </p:nvSpPr>
          <p:spPr>
            <a:xfrm>
              <a:off x="-125086" y="10"/>
              <a:ext cx="2249171" cy="391174"/>
            </a:xfrm>
            <a:custGeom>
              <a:rect b="b" l="l" r="r" t="t"/>
              <a:pathLst>
                <a:path extrusionOk="0"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g35cd290b054_0_493"/>
            <p:cNvSpPr txBox="1"/>
            <p:nvPr/>
          </p:nvSpPr>
          <p:spPr>
            <a:xfrm>
              <a:off x="-63998" y="-153"/>
              <a:ext cx="21270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rtl="0" algn="ctr">
                <a:lnSpc>
                  <a:spcPct val="14703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1739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100% DIGITAL —</a:t>
              </a:r>
              <a:endParaRPr b="1" sz="1739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  <a:p>
              <a:pPr indent="0" lvl="0" marL="0" rtl="0" algn="ctr">
                <a:lnSpc>
                  <a:spcPct val="147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39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NO NEED FOR REALTOR OR NOTARY</a:t>
              </a:r>
              <a:endParaRPr b="1" sz="175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169" name="Google Shape;169;g35cd290b054_0_493"/>
          <p:cNvGrpSpPr/>
          <p:nvPr/>
        </p:nvGrpSpPr>
        <p:grpSpPr>
          <a:xfrm>
            <a:off x="1532700" y="5080399"/>
            <a:ext cx="1122247" cy="1141110"/>
            <a:chOff x="0" y="-17103"/>
            <a:chExt cx="286200" cy="296100"/>
          </a:xfrm>
        </p:grpSpPr>
        <p:sp>
          <p:nvSpPr>
            <p:cNvPr id="170" name="Google Shape;170;g35cd290b054_0_493"/>
            <p:cNvSpPr/>
            <p:nvPr/>
          </p:nvSpPr>
          <p:spPr>
            <a:xfrm>
              <a:off x="0" y="0"/>
              <a:ext cx="286166" cy="278912"/>
            </a:xfrm>
            <a:custGeom>
              <a:rect b="b" l="l" r="r" t="t"/>
              <a:pathLst>
                <a:path extrusionOk="0"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g35cd290b054_0_493"/>
            <p:cNvSpPr txBox="1"/>
            <p:nvPr/>
          </p:nvSpPr>
          <p:spPr>
            <a:xfrm>
              <a:off x="0" y="-17103"/>
              <a:ext cx="2862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47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Nunito Sans"/>
                  <a:ea typeface="Nunito Sans"/>
                  <a:cs typeface="Nunito Sans"/>
                  <a:sym typeface="Nunito Sans"/>
                </a:rPr>
                <a:t>2</a:t>
              </a:r>
              <a:endParaRPr sz="2400"/>
            </a:p>
          </p:txBody>
        </p:sp>
      </p:grpSp>
      <p:grpSp>
        <p:nvGrpSpPr>
          <p:cNvPr id="172" name="Google Shape;172;g35cd290b054_0_493"/>
          <p:cNvGrpSpPr/>
          <p:nvPr/>
        </p:nvGrpSpPr>
        <p:grpSpPr>
          <a:xfrm>
            <a:off x="11093451" y="5089700"/>
            <a:ext cx="6078611" cy="1141105"/>
            <a:chOff x="-125086" y="-153"/>
            <a:chExt cx="2249171" cy="391500"/>
          </a:xfrm>
        </p:grpSpPr>
        <p:sp>
          <p:nvSpPr>
            <p:cNvPr id="173" name="Google Shape;173;g35cd290b054_0_493"/>
            <p:cNvSpPr/>
            <p:nvPr/>
          </p:nvSpPr>
          <p:spPr>
            <a:xfrm>
              <a:off x="-125086" y="10"/>
              <a:ext cx="2249171" cy="391174"/>
            </a:xfrm>
            <a:custGeom>
              <a:rect b="b" l="l" r="r" t="t"/>
              <a:pathLst>
                <a:path extrusionOk="0"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g35cd290b054_0_493"/>
            <p:cNvSpPr txBox="1"/>
            <p:nvPr/>
          </p:nvSpPr>
          <p:spPr>
            <a:xfrm>
              <a:off x="-63998" y="-153"/>
              <a:ext cx="21270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rtl="0" algn="ctr">
                <a:lnSpc>
                  <a:spcPct val="147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39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PRIVATE, YET TRANSPARENT — PSEUDONYMOUS BLOCKCHAIN IDENTITY.</a:t>
              </a:r>
              <a:endParaRPr b="1" sz="1739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</p:grpSp>
      <p:grpSp>
        <p:nvGrpSpPr>
          <p:cNvPr id="175" name="Google Shape;175;g35cd290b054_0_493"/>
          <p:cNvGrpSpPr/>
          <p:nvPr/>
        </p:nvGrpSpPr>
        <p:grpSpPr>
          <a:xfrm>
            <a:off x="9747100" y="5089699"/>
            <a:ext cx="1122247" cy="1141110"/>
            <a:chOff x="0" y="-17103"/>
            <a:chExt cx="286200" cy="296100"/>
          </a:xfrm>
        </p:grpSpPr>
        <p:sp>
          <p:nvSpPr>
            <p:cNvPr id="176" name="Google Shape;176;g35cd290b054_0_493"/>
            <p:cNvSpPr/>
            <p:nvPr/>
          </p:nvSpPr>
          <p:spPr>
            <a:xfrm>
              <a:off x="0" y="0"/>
              <a:ext cx="286166" cy="278912"/>
            </a:xfrm>
            <a:custGeom>
              <a:rect b="b" l="l" r="r" t="t"/>
              <a:pathLst>
                <a:path extrusionOk="0"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g35cd290b054_0_493"/>
            <p:cNvSpPr txBox="1"/>
            <p:nvPr/>
          </p:nvSpPr>
          <p:spPr>
            <a:xfrm>
              <a:off x="0" y="-17103"/>
              <a:ext cx="2862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47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Nunito Sans"/>
                  <a:ea typeface="Nunito Sans"/>
                  <a:cs typeface="Nunito Sans"/>
                  <a:sym typeface="Nunito Sans"/>
                </a:rPr>
                <a:t>5</a:t>
              </a:r>
              <a:endParaRPr sz="2400"/>
            </a:p>
          </p:txBody>
        </p:sp>
      </p:grpSp>
      <p:grpSp>
        <p:nvGrpSpPr>
          <p:cNvPr id="178" name="Google Shape;178;g35cd290b054_0_493"/>
          <p:cNvGrpSpPr/>
          <p:nvPr/>
        </p:nvGrpSpPr>
        <p:grpSpPr>
          <a:xfrm>
            <a:off x="9747100" y="6516999"/>
            <a:ext cx="1122247" cy="1141110"/>
            <a:chOff x="0" y="-17103"/>
            <a:chExt cx="286200" cy="296100"/>
          </a:xfrm>
        </p:grpSpPr>
        <p:sp>
          <p:nvSpPr>
            <p:cNvPr id="179" name="Google Shape;179;g35cd290b054_0_493"/>
            <p:cNvSpPr/>
            <p:nvPr/>
          </p:nvSpPr>
          <p:spPr>
            <a:xfrm>
              <a:off x="0" y="0"/>
              <a:ext cx="286166" cy="278912"/>
            </a:xfrm>
            <a:custGeom>
              <a:rect b="b" l="l" r="r" t="t"/>
              <a:pathLst>
                <a:path extrusionOk="0"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g35cd290b054_0_493"/>
            <p:cNvSpPr txBox="1"/>
            <p:nvPr/>
          </p:nvSpPr>
          <p:spPr>
            <a:xfrm>
              <a:off x="0" y="-17103"/>
              <a:ext cx="2862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47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Nunito Sans"/>
                  <a:ea typeface="Nunito Sans"/>
                  <a:cs typeface="Nunito Sans"/>
                  <a:sym typeface="Nunito Sans"/>
                </a:rPr>
                <a:t>6</a:t>
              </a:r>
              <a:endParaRPr sz="2400"/>
            </a:p>
          </p:txBody>
        </p:sp>
      </p:grpSp>
      <p:grpSp>
        <p:nvGrpSpPr>
          <p:cNvPr id="181" name="Google Shape;181;g35cd290b054_0_493"/>
          <p:cNvGrpSpPr/>
          <p:nvPr/>
        </p:nvGrpSpPr>
        <p:grpSpPr>
          <a:xfrm>
            <a:off x="1532700" y="6516999"/>
            <a:ext cx="1122247" cy="1141110"/>
            <a:chOff x="0" y="-17103"/>
            <a:chExt cx="286200" cy="296100"/>
          </a:xfrm>
        </p:grpSpPr>
        <p:sp>
          <p:nvSpPr>
            <p:cNvPr id="182" name="Google Shape;182;g35cd290b054_0_493"/>
            <p:cNvSpPr/>
            <p:nvPr/>
          </p:nvSpPr>
          <p:spPr>
            <a:xfrm>
              <a:off x="0" y="0"/>
              <a:ext cx="286166" cy="278912"/>
            </a:xfrm>
            <a:custGeom>
              <a:rect b="b" l="l" r="r" t="t"/>
              <a:pathLst>
                <a:path extrusionOk="0"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g35cd290b054_0_493"/>
            <p:cNvSpPr txBox="1"/>
            <p:nvPr/>
          </p:nvSpPr>
          <p:spPr>
            <a:xfrm>
              <a:off x="0" y="-17103"/>
              <a:ext cx="2862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47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Nunito Sans"/>
                  <a:ea typeface="Nunito Sans"/>
                  <a:cs typeface="Nunito Sans"/>
                  <a:sym typeface="Nunito Sans"/>
                </a:rPr>
                <a:t>3</a:t>
              </a:r>
              <a:endParaRPr sz="2400"/>
            </a:p>
          </p:txBody>
        </p:sp>
      </p:grpSp>
      <p:grpSp>
        <p:nvGrpSpPr>
          <p:cNvPr id="184" name="Google Shape;184;g35cd290b054_0_493"/>
          <p:cNvGrpSpPr/>
          <p:nvPr/>
        </p:nvGrpSpPr>
        <p:grpSpPr>
          <a:xfrm>
            <a:off x="2879051" y="6517000"/>
            <a:ext cx="6078611" cy="1141105"/>
            <a:chOff x="-125086" y="-153"/>
            <a:chExt cx="2249171" cy="391500"/>
          </a:xfrm>
        </p:grpSpPr>
        <p:sp>
          <p:nvSpPr>
            <p:cNvPr id="185" name="Google Shape;185;g35cd290b054_0_493"/>
            <p:cNvSpPr/>
            <p:nvPr/>
          </p:nvSpPr>
          <p:spPr>
            <a:xfrm>
              <a:off x="-125086" y="10"/>
              <a:ext cx="2249171" cy="391174"/>
            </a:xfrm>
            <a:custGeom>
              <a:rect b="b" l="l" r="r" t="t"/>
              <a:pathLst>
                <a:path extrusionOk="0"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g35cd290b054_0_493"/>
            <p:cNvSpPr txBox="1"/>
            <p:nvPr/>
          </p:nvSpPr>
          <p:spPr>
            <a:xfrm>
              <a:off x="-63998" y="-153"/>
              <a:ext cx="21270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rtl="0" algn="ctr">
                <a:lnSpc>
                  <a:spcPct val="147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39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INSTANT OWNERSHIP TRANSFER VIA SMART CONTRACTS</a:t>
              </a:r>
              <a:endParaRPr b="1" sz="175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187" name="Google Shape;187;g35cd290b054_0_493"/>
          <p:cNvGrpSpPr/>
          <p:nvPr/>
        </p:nvGrpSpPr>
        <p:grpSpPr>
          <a:xfrm>
            <a:off x="11093451" y="6517000"/>
            <a:ext cx="6078611" cy="1141105"/>
            <a:chOff x="-125086" y="-153"/>
            <a:chExt cx="2249171" cy="391500"/>
          </a:xfrm>
        </p:grpSpPr>
        <p:sp>
          <p:nvSpPr>
            <p:cNvPr id="188" name="Google Shape;188;g35cd290b054_0_493"/>
            <p:cNvSpPr/>
            <p:nvPr/>
          </p:nvSpPr>
          <p:spPr>
            <a:xfrm>
              <a:off x="-125086" y="10"/>
              <a:ext cx="2249171" cy="391174"/>
            </a:xfrm>
            <a:custGeom>
              <a:rect b="b" l="l" r="r" t="t"/>
              <a:pathLst>
                <a:path extrusionOk="0"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g35cd290b054_0_493"/>
            <p:cNvSpPr txBox="1"/>
            <p:nvPr/>
          </p:nvSpPr>
          <p:spPr>
            <a:xfrm>
              <a:off x="-63998" y="-153"/>
              <a:ext cx="21270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rtl="0" algn="ctr">
                <a:lnSpc>
                  <a:spcPct val="147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39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TRADEABLE ASSETS — </a:t>
              </a:r>
              <a:r>
                <a:rPr b="1" lang="en-US" sz="1739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d</a:t>
              </a:r>
              <a:r>
                <a:rPr b="1" lang="en-US" sz="1739">
                  <a:solidFill>
                    <a:srgbClr val="7D52AF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EST</a:t>
              </a:r>
              <a:r>
                <a:rPr b="1" lang="en-US" sz="1739">
                  <a:solidFill>
                    <a:schemeClr val="dk1"/>
                  </a:solidFill>
                  <a:latin typeface="Nunito Sans Medium"/>
                  <a:ea typeface="Nunito Sans Medium"/>
                  <a:cs typeface="Nunito Sans Medium"/>
                  <a:sym typeface="Nunito Sans Medium"/>
                </a:rPr>
                <a:t> CAN BE AUCTIONED, TRADED, OR USED IN DEFI.</a:t>
              </a:r>
              <a:endParaRPr b="1" sz="1739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cd290b054_0_230"/>
          <p:cNvSpPr/>
          <p:nvPr/>
        </p:nvSpPr>
        <p:spPr>
          <a:xfrm>
            <a:off x="431360" y="491704"/>
            <a:ext cx="17613238" cy="9304528"/>
          </a:xfrm>
          <a:custGeom>
            <a:rect b="b" l="l" r="r" t="t"/>
            <a:pathLst>
              <a:path extrusionOk="0" h="812800" w="1538610">
                <a:moveTo>
                  <a:pt x="10111" y="0"/>
                </a:moveTo>
                <a:lnTo>
                  <a:pt x="1528500" y="0"/>
                </a:lnTo>
                <a:cubicBezTo>
                  <a:pt x="1534084" y="0"/>
                  <a:pt x="1538610" y="4527"/>
                  <a:pt x="1538610" y="10111"/>
                </a:cubicBezTo>
                <a:lnTo>
                  <a:pt x="1538610" y="802689"/>
                </a:lnTo>
                <a:cubicBezTo>
                  <a:pt x="1538610" y="808273"/>
                  <a:pt x="1534084" y="812800"/>
                  <a:pt x="1528500" y="812800"/>
                </a:cubicBezTo>
                <a:lnTo>
                  <a:pt x="10111" y="812800"/>
                </a:lnTo>
                <a:cubicBezTo>
                  <a:pt x="4527" y="812800"/>
                  <a:pt x="0" y="808273"/>
                  <a:pt x="0" y="802689"/>
                </a:cubicBezTo>
                <a:lnTo>
                  <a:pt x="0" y="10111"/>
                </a:lnTo>
                <a:cubicBezTo>
                  <a:pt x="0" y="4527"/>
                  <a:pt x="4527" y="0"/>
                  <a:pt x="101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" name="Google Shape;195;g35cd290b054_0_230"/>
          <p:cNvGrpSpPr/>
          <p:nvPr/>
        </p:nvGrpSpPr>
        <p:grpSpPr>
          <a:xfrm>
            <a:off x="-2121151" y="-397001"/>
            <a:ext cx="22876568" cy="11447809"/>
            <a:chOff x="0" y="0"/>
            <a:chExt cx="30502090" cy="15263745"/>
          </a:xfrm>
        </p:grpSpPr>
        <p:sp>
          <p:nvSpPr>
            <p:cNvPr id="196" name="Google Shape;196;g35cd290b054_0_230"/>
            <p:cNvSpPr/>
            <p:nvPr/>
          </p:nvSpPr>
          <p:spPr>
            <a:xfrm>
              <a:off x="0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7" name="Google Shape;197;g35cd290b054_0_230"/>
            <p:cNvSpPr/>
            <p:nvPr/>
          </p:nvSpPr>
          <p:spPr>
            <a:xfrm>
              <a:off x="15238345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98" name="Google Shape;198;g35cd290b054_0_230"/>
          <p:cNvSpPr txBox="1"/>
          <p:nvPr/>
        </p:nvSpPr>
        <p:spPr>
          <a:xfrm>
            <a:off x="809625" y="7094372"/>
            <a:ext cx="58848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9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OUR CONCEPT</a:t>
            </a:r>
            <a:endParaRPr/>
          </a:p>
        </p:txBody>
      </p:sp>
      <p:sp>
        <p:nvSpPr>
          <p:cNvPr id="199" name="Google Shape;199;g35cd290b054_0_230"/>
          <p:cNvSpPr txBox="1"/>
          <p:nvPr/>
        </p:nvSpPr>
        <p:spPr>
          <a:xfrm>
            <a:off x="14126793" y="2749398"/>
            <a:ext cx="312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00" name="Google Shape;200;g35cd290b054_0_2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8300" y="1209275"/>
            <a:ext cx="14171402" cy="56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cd290b054_0_273"/>
          <p:cNvSpPr/>
          <p:nvPr/>
        </p:nvSpPr>
        <p:spPr>
          <a:xfrm>
            <a:off x="431360" y="491704"/>
            <a:ext cx="17613238" cy="9304528"/>
          </a:xfrm>
          <a:custGeom>
            <a:rect b="b" l="l" r="r" t="t"/>
            <a:pathLst>
              <a:path extrusionOk="0" h="812800" w="1538610">
                <a:moveTo>
                  <a:pt x="10111" y="0"/>
                </a:moveTo>
                <a:lnTo>
                  <a:pt x="1528500" y="0"/>
                </a:lnTo>
                <a:cubicBezTo>
                  <a:pt x="1534084" y="0"/>
                  <a:pt x="1538610" y="4527"/>
                  <a:pt x="1538610" y="10111"/>
                </a:cubicBezTo>
                <a:lnTo>
                  <a:pt x="1538610" y="802689"/>
                </a:lnTo>
                <a:cubicBezTo>
                  <a:pt x="1538610" y="808273"/>
                  <a:pt x="1534084" y="812800"/>
                  <a:pt x="1528500" y="812800"/>
                </a:cubicBezTo>
                <a:lnTo>
                  <a:pt x="10111" y="812800"/>
                </a:lnTo>
                <a:cubicBezTo>
                  <a:pt x="4527" y="812800"/>
                  <a:pt x="0" y="808273"/>
                  <a:pt x="0" y="802689"/>
                </a:cubicBezTo>
                <a:lnTo>
                  <a:pt x="0" y="10111"/>
                </a:lnTo>
                <a:cubicBezTo>
                  <a:pt x="0" y="4527"/>
                  <a:pt x="4527" y="0"/>
                  <a:pt x="101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g35cd290b054_0_273"/>
          <p:cNvGrpSpPr/>
          <p:nvPr/>
        </p:nvGrpSpPr>
        <p:grpSpPr>
          <a:xfrm>
            <a:off x="-2121151" y="-397001"/>
            <a:ext cx="22876568" cy="11447809"/>
            <a:chOff x="0" y="0"/>
            <a:chExt cx="30502090" cy="15263745"/>
          </a:xfrm>
        </p:grpSpPr>
        <p:sp>
          <p:nvSpPr>
            <p:cNvPr id="207" name="Google Shape;207;g35cd290b054_0_273"/>
            <p:cNvSpPr/>
            <p:nvPr/>
          </p:nvSpPr>
          <p:spPr>
            <a:xfrm>
              <a:off x="0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8" name="Google Shape;208;g35cd290b054_0_273"/>
            <p:cNvSpPr/>
            <p:nvPr/>
          </p:nvSpPr>
          <p:spPr>
            <a:xfrm>
              <a:off x="15238345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09" name="Google Shape;209;g35cd290b054_0_273"/>
          <p:cNvGrpSpPr/>
          <p:nvPr/>
        </p:nvGrpSpPr>
        <p:grpSpPr>
          <a:xfrm>
            <a:off x="2144175" y="3566273"/>
            <a:ext cx="6406130" cy="4150238"/>
            <a:chOff x="0" y="-38100"/>
            <a:chExt cx="1687200" cy="1300200"/>
          </a:xfrm>
        </p:grpSpPr>
        <p:sp>
          <p:nvSpPr>
            <p:cNvPr id="210" name="Google Shape;210;g35cd290b054_0_273"/>
            <p:cNvSpPr/>
            <p:nvPr/>
          </p:nvSpPr>
          <p:spPr>
            <a:xfrm>
              <a:off x="0" y="0"/>
              <a:ext cx="1687145" cy="1262019"/>
            </a:xfrm>
            <a:custGeom>
              <a:rect b="b" l="l" r="r" t="t"/>
              <a:pathLst>
                <a:path extrusionOk="0" h="1262019" w="1687145">
                  <a:moveTo>
                    <a:pt x="43508" y="0"/>
                  </a:moveTo>
                  <a:lnTo>
                    <a:pt x="1643636" y="0"/>
                  </a:lnTo>
                  <a:cubicBezTo>
                    <a:pt x="1667665" y="0"/>
                    <a:pt x="1687145" y="19479"/>
                    <a:pt x="1687145" y="43508"/>
                  </a:cubicBezTo>
                  <a:lnTo>
                    <a:pt x="1687145" y="1218511"/>
                  </a:lnTo>
                  <a:cubicBezTo>
                    <a:pt x="1687145" y="1242540"/>
                    <a:pt x="1667665" y="1262019"/>
                    <a:pt x="1643636" y="1262019"/>
                  </a:cubicBezTo>
                  <a:lnTo>
                    <a:pt x="43508" y="1262019"/>
                  </a:lnTo>
                  <a:cubicBezTo>
                    <a:pt x="19479" y="1262019"/>
                    <a:pt x="0" y="1242540"/>
                    <a:pt x="0" y="1218511"/>
                  </a:cubicBezTo>
                  <a:lnTo>
                    <a:pt x="0" y="43508"/>
                  </a:lnTo>
                  <a:cubicBezTo>
                    <a:pt x="0" y="19479"/>
                    <a:pt x="19479" y="0"/>
                    <a:pt x="43508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g35cd290b054_0_273"/>
            <p:cNvSpPr txBox="1"/>
            <p:nvPr/>
          </p:nvSpPr>
          <p:spPr>
            <a:xfrm>
              <a:off x="0" y="-38100"/>
              <a:ext cx="1687200" cy="13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g35cd290b054_0_273"/>
          <p:cNvGrpSpPr/>
          <p:nvPr/>
        </p:nvGrpSpPr>
        <p:grpSpPr>
          <a:xfrm>
            <a:off x="9784500" y="3607552"/>
            <a:ext cx="6359428" cy="4108892"/>
            <a:chOff x="0" y="-38100"/>
            <a:chExt cx="1674900" cy="1300200"/>
          </a:xfrm>
        </p:grpSpPr>
        <p:sp>
          <p:nvSpPr>
            <p:cNvPr id="213" name="Google Shape;213;g35cd290b054_0_273"/>
            <p:cNvSpPr/>
            <p:nvPr/>
          </p:nvSpPr>
          <p:spPr>
            <a:xfrm>
              <a:off x="0" y="0"/>
              <a:ext cx="1674885" cy="1262019"/>
            </a:xfrm>
            <a:custGeom>
              <a:rect b="b" l="l" r="r" t="t"/>
              <a:pathLst>
                <a:path extrusionOk="0" h="1262019" w="1674885">
                  <a:moveTo>
                    <a:pt x="43827" y="0"/>
                  </a:moveTo>
                  <a:lnTo>
                    <a:pt x="1631059" y="0"/>
                  </a:lnTo>
                  <a:cubicBezTo>
                    <a:pt x="1655263" y="0"/>
                    <a:pt x="1674885" y="19622"/>
                    <a:pt x="1674885" y="43827"/>
                  </a:cubicBezTo>
                  <a:lnTo>
                    <a:pt x="1674885" y="1218192"/>
                  </a:lnTo>
                  <a:cubicBezTo>
                    <a:pt x="1674885" y="1242397"/>
                    <a:pt x="1655263" y="1262019"/>
                    <a:pt x="1631059" y="1262019"/>
                  </a:cubicBezTo>
                  <a:lnTo>
                    <a:pt x="43827" y="1262019"/>
                  </a:lnTo>
                  <a:cubicBezTo>
                    <a:pt x="19622" y="1262019"/>
                    <a:pt x="0" y="1242397"/>
                    <a:pt x="0" y="1218192"/>
                  </a:cubicBezTo>
                  <a:lnTo>
                    <a:pt x="0" y="43827"/>
                  </a:lnTo>
                  <a:cubicBezTo>
                    <a:pt x="0" y="19622"/>
                    <a:pt x="19622" y="0"/>
                    <a:pt x="43827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g35cd290b054_0_273"/>
            <p:cNvSpPr txBox="1"/>
            <p:nvPr/>
          </p:nvSpPr>
          <p:spPr>
            <a:xfrm>
              <a:off x="0" y="-38100"/>
              <a:ext cx="1674900" cy="13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g35cd290b054_0_273"/>
          <p:cNvSpPr/>
          <p:nvPr/>
        </p:nvSpPr>
        <p:spPr>
          <a:xfrm>
            <a:off x="4176909" y="4298807"/>
            <a:ext cx="2340452" cy="1689381"/>
          </a:xfrm>
          <a:custGeom>
            <a:rect b="b" l="l" r="r" t="t"/>
            <a:pathLst>
              <a:path extrusionOk="0" h="1689381" w="2340452">
                <a:moveTo>
                  <a:pt x="0" y="0"/>
                </a:moveTo>
                <a:lnTo>
                  <a:pt x="2340452" y="0"/>
                </a:lnTo>
                <a:lnTo>
                  <a:pt x="2340452" y="1689381"/>
                </a:lnTo>
                <a:lnTo>
                  <a:pt x="0" y="1689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rnd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5cd290b054_0_273"/>
          <p:cNvSpPr/>
          <p:nvPr/>
        </p:nvSpPr>
        <p:spPr>
          <a:xfrm>
            <a:off x="11793982" y="4305961"/>
            <a:ext cx="2340452" cy="1675087"/>
          </a:xfrm>
          <a:custGeom>
            <a:rect b="b" l="l" r="r" t="t"/>
            <a:pathLst>
              <a:path extrusionOk="0" h="1675087" w="2340452">
                <a:moveTo>
                  <a:pt x="0" y="0"/>
                </a:moveTo>
                <a:lnTo>
                  <a:pt x="2340452" y="0"/>
                </a:lnTo>
                <a:lnTo>
                  <a:pt x="2340452" y="1675088"/>
                </a:lnTo>
                <a:lnTo>
                  <a:pt x="0" y="1675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9319" l="0" r="-69828" t="-9319"/>
            </a:stretch>
          </a:blipFill>
          <a:ln cap="rnd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5cd290b054_0_273"/>
          <p:cNvSpPr txBox="1"/>
          <p:nvPr/>
        </p:nvSpPr>
        <p:spPr>
          <a:xfrm>
            <a:off x="3603235" y="6195711"/>
            <a:ext cx="348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ESTONIA </a:t>
            </a:r>
            <a:endParaRPr/>
          </a:p>
        </p:txBody>
      </p:sp>
      <p:sp>
        <p:nvSpPr>
          <p:cNvPr id="218" name="Google Shape;218;g35cd290b054_0_273"/>
          <p:cNvSpPr txBox="1"/>
          <p:nvPr/>
        </p:nvSpPr>
        <p:spPr>
          <a:xfrm>
            <a:off x="2676367" y="6732273"/>
            <a:ext cx="53415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39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NFTs are recognized as representations of digital ownership.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9" name="Google Shape;219;g35cd290b054_0_273"/>
          <p:cNvSpPr txBox="1"/>
          <p:nvPr/>
        </p:nvSpPr>
        <p:spPr>
          <a:xfrm>
            <a:off x="10253755" y="6624458"/>
            <a:ext cx="5420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39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Dubai Land Department (DLD) has piloted </a:t>
            </a:r>
            <a:r>
              <a:rPr lang="en-US" sz="1739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real estate tokenization.</a:t>
            </a:r>
            <a:endParaRPr sz="1739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0" name="Google Shape;220;g35cd290b054_0_273"/>
          <p:cNvSpPr txBox="1"/>
          <p:nvPr/>
        </p:nvSpPr>
        <p:spPr>
          <a:xfrm>
            <a:off x="3750302" y="2646696"/>
            <a:ext cx="107874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39" u="none" cap="none" strike="noStrike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Legally Valid Ownership in Web3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1" name="Google Shape;221;g35cd290b054_0_273"/>
          <p:cNvSpPr txBox="1"/>
          <p:nvPr/>
        </p:nvSpPr>
        <p:spPr>
          <a:xfrm>
            <a:off x="2144165" y="1374852"/>
            <a:ext cx="139998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92" u="none" cap="none" strike="noStrike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LEGAL FRAMEWORK</a:t>
            </a:r>
            <a:endParaRPr/>
          </a:p>
        </p:txBody>
      </p:sp>
      <p:pic>
        <p:nvPicPr>
          <p:cNvPr id="222" name="Google Shape;222;g35cd290b054_0_2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77000" y="4305950"/>
            <a:ext cx="2340451" cy="167509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5cd290b054_0_273"/>
          <p:cNvSpPr txBox="1"/>
          <p:nvPr/>
        </p:nvSpPr>
        <p:spPr>
          <a:xfrm>
            <a:off x="11220210" y="6195698"/>
            <a:ext cx="348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UAE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cd290b054_0_546"/>
          <p:cNvSpPr/>
          <p:nvPr/>
        </p:nvSpPr>
        <p:spPr>
          <a:xfrm>
            <a:off x="431360" y="491704"/>
            <a:ext cx="17613238" cy="9304528"/>
          </a:xfrm>
          <a:custGeom>
            <a:rect b="b" l="l" r="r" t="t"/>
            <a:pathLst>
              <a:path extrusionOk="0" h="812800" w="1538610">
                <a:moveTo>
                  <a:pt x="10111" y="0"/>
                </a:moveTo>
                <a:lnTo>
                  <a:pt x="1528500" y="0"/>
                </a:lnTo>
                <a:cubicBezTo>
                  <a:pt x="1534084" y="0"/>
                  <a:pt x="1538610" y="4527"/>
                  <a:pt x="1538610" y="10111"/>
                </a:cubicBezTo>
                <a:lnTo>
                  <a:pt x="1538610" y="802689"/>
                </a:lnTo>
                <a:cubicBezTo>
                  <a:pt x="1538610" y="808273"/>
                  <a:pt x="1534084" y="812800"/>
                  <a:pt x="1528500" y="812800"/>
                </a:cubicBezTo>
                <a:lnTo>
                  <a:pt x="10111" y="812800"/>
                </a:lnTo>
                <a:cubicBezTo>
                  <a:pt x="4527" y="812800"/>
                  <a:pt x="0" y="808273"/>
                  <a:pt x="0" y="802689"/>
                </a:cubicBezTo>
                <a:lnTo>
                  <a:pt x="0" y="10111"/>
                </a:lnTo>
                <a:cubicBezTo>
                  <a:pt x="0" y="4527"/>
                  <a:pt x="4527" y="0"/>
                  <a:pt x="101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g35cd290b054_0_546"/>
          <p:cNvGrpSpPr/>
          <p:nvPr/>
        </p:nvGrpSpPr>
        <p:grpSpPr>
          <a:xfrm>
            <a:off x="-2121151" y="-397001"/>
            <a:ext cx="22876568" cy="11447809"/>
            <a:chOff x="0" y="0"/>
            <a:chExt cx="30502090" cy="15263745"/>
          </a:xfrm>
        </p:grpSpPr>
        <p:sp>
          <p:nvSpPr>
            <p:cNvPr id="230" name="Google Shape;230;g35cd290b054_0_546"/>
            <p:cNvSpPr/>
            <p:nvPr/>
          </p:nvSpPr>
          <p:spPr>
            <a:xfrm>
              <a:off x="0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1" name="Google Shape;231;g35cd290b054_0_546"/>
            <p:cNvSpPr/>
            <p:nvPr/>
          </p:nvSpPr>
          <p:spPr>
            <a:xfrm>
              <a:off x="15238345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232" name="Google Shape;232;g35cd290b054_0_546" title="IMG_8477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288" y="491225"/>
            <a:ext cx="16541379" cy="930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cd290b054_0_553"/>
          <p:cNvSpPr/>
          <p:nvPr/>
        </p:nvSpPr>
        <p:spPr>
          <a:xfrm>
            <a:off x="431360" y="491704"/>
            <a:ext cx="17613238" cy="9304528"/>
          </a:xfrm>
          <a:custGeom>
            <a:rect b="b" l="l" r="r" t="t"/>
            <a:pathLst>
              <a:path extrusionOk="0" h="812800" w="1538610">
                <a:moveTo>
                  <a:pt x="10111" y="0"/>
                </a:moveTo>
                <a:lnTo>
                  <a:pt x="1528500" y="0"/>
                </a:lnTo>
                <a:cubicBezTo>
                  <a:pt x="1534084" y="0"/>
                  <a:pt x="1538610" y="4527"/>
                  <a:pt x="1538610" y="10111"/>
                </a:cubicBezTo>
                <a:lnTo>
                  <a:pt x="1538610" y="802689"/>
                </a:lnTo>
                <a:cubicBezTo>
                  <a:pt x="1538610" y="808273"/>
                  <a:pt x="1534084" y="812800"/>
                  <a:pt x="1528500" y="812800"/>
                </a:cubicBezTo>
                <a:lnTo>
                  <a:pt x="10111" y="812800"/>
                </a:lnTo>
                <a:cubicBezTo>
                  <a:pt x="4527" y="812800"/>
                  <a:pt x="0" y="808273"/>
                  <a:pt x="0" y="802689"/>
                </a:cubicBezTo>
                <a:lnTo>
                  <a:pt x="0" y="10111"/>
                </a:lnTo>
                <a:cubicBezTo>
                  <a:pt x="0" y="4527"/>
                  <a:pt x="4527" y="0"/>
                  <a:pt x="101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" name="Google Shape;238;g35cd290b054_0_553"/>
          <p:cNvGrpSpPr/>
          <p:nvPr/>
        </p:nvGrpSpPr>
        <p:grpSpPr>
          <a:xfrm>
            <a:off x="-2121151" y="-397001"/>
            <a:ext cx="22876568" cy="11447809"/>
            <a:chOff x="0" y="0"/>
            <a:chExt cx="30502090" cy="15263745"/>
          </a:xfrm>
        </p:grpSpPr>
        <p:sp>
          <p:nvSpPr>
            <p:cNvPr id="239" name="Google Shape;239;g35cd290b054_0_553"/>
            <p:cNvSpPr/>
            <p:nvPr/>
          </p:nvSpPr>
          <p:spPr>
            <a:xfrm>
              <a:off x="0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0" name="Google Shape;240;g35cd290b054_0_553"/>
            <p:cNvSpPr/>
            <p:nvPr/>
          </p:nvSpPr>
          <p:spPr>
            <a:xfrm>
              <a:off x="15238345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241" name="Google Shape;241;g35cd290b054_0_553" title="IMG_8478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275" y="491238"/>
            <a:ext cx="16541379" cy="930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/>
          <p:nvPr/>
        </p:nvSpPr>
        <p:spPr>
          <a:xfrm>
            <a:off x="431360" y="491704"/>
            <a:ext cx="17611470" cy="9303593"/>
          </a:xfrm>
          <a:custGeom>
            <a:rect b="b" l="l" r="r" t="t"/>
            <a:pathLst>
              <a:path extrusionOk="0" h="812800" w="1538610">
                <a:moveTo>
                  <a:pt x="10111" y="0"/>
                </a:moveTo>
                <a:lnTo>
                  <a:pt x="1528500" y="0"/>
                </a:lnTo>
                <a:cubicBezTo>
                  <a:pt x="1534084" y="0"/>
                  <a:pt x="1538610" y="4527"/>
                  <a:pt x="1538610" y="10111"/>
                </a:cubicBezTo>
                <a:lnTo>
                  <a:pt x="1538610" y="802689"/>
                </a:lnTo>
                <a:cubicBezTo>
                  <a:pt x="1538610" y="808273"/>
                  <a:pt x="1534084" y="812800"/>
                  <a:pt x="1528500" y="812800"/>
                </a:cubicBezTo>
                <a:lnTo>
                  <a:pt x="10111" y="812800"/>
                </a:lnTo>
                <a:cubicBezTo>
                  <a:pt x="4527" y="812800"/>
                  <a:pt x="0" y="808273"/>
                  <a:pt x="0" y="802689"/>
                </a:cubicBezTo>
                <a:lnTo>
                  <a:pt x="0" y="10111"/>
                </a:lnTo>
                <a:cubicBezTo>
                  <a:pt x="0" y="4527"/>
                  <a:pt x="4527" y="0"/>
                  <a:pt x="101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7" name="Google Shape;247;p7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248" name="Google Shape;248;p7"/>
            <p:cNvSpPr/>
            <p:nvPr/>
          </p:nvSpPr>
          <p:spPr>
            <a:xfrm>
              <a:off x="0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9" name="Google Shape;249;p7"/>
            <p:cNvSpPr/>
            <p:nvPr/>
          </p:nvSpPr>
          <p:spPr>
            <a:xfrm>
              <a:off x="15238345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50" name="Google Shape;250;p7"/>
          <p:cNvGrpSpPr/>
          <p:nvPr/>
        </p:nvGrpSpPr>
        <p:grpSpPr>
          <a:xfrm>
            <a:off x="1038048" y="3607550"/>
            <a:ext cx="4968804" cy="4936729"/>
            <a:chOff x="0" y="-38100"/>
            <a:chExt cx="1687200" cy="1300200"/>
          </a:xfrm>
        </p:grpSpPr>
        <p:sp>
          <p:nvSpPr>
            <p:cNvPr id="251" name="Google Shape;251;p7"/>
            <p:cNvSpPr/>
            <p:nvPr/>
          </p:nvSpPr>
          <p:spPr>
            <a:xfrm>
              <a:off x="0" y="0"/>
              <a:ext cx="1687145" cy="1262019"/>
            </a:xfrm>
            <a:custGeom>
              <a:rect b="b" l="l" r="r" t="t"/>
              <a:pathLst>
                <a:path extrusionOk="0" h="1262019" w="1687145">
                  <a:moveTo>
                    <a:pt x="43508" y="0"/>
                  </a:moveTo>
                  <a:lnTo>
                    <a:pt x="1643636" y="0"/>
                  </a:lnTo>
                  <a:cubicBezTo>
                    <a:pt x="1667665" y="0"/>
                    <a:pt x="1687145" y="19479"/>
                    <a:pt x="1687145" y="43508"/>
                  </a:cubicBezTo>
                  <a:lnTo>
                    <a:pt x="1687145" y="1218511"/>
                  </a:lnTo>
                  <a:cubicBezTo>
                    <a:pt x="1687145" y="1242540"/>
                    <a:pt x="1667665" y="1262019"/>
                    <a:pt x="1643636" y="1262019"/>
                  </a:cubicBezTo>
                  <a:lnTo>
                    <a:pt x="43508" y="1262019"/>
                  </a:lnTo>
                  <a:cubicBezTo>
                    <a:pt x="19479" y="1262019"/>
                    <a:pt x="0" y="1242540"/>
                    <a:pt x="0" y="1218511"/>
                  </a:cubicBezTo>
                  <a:lnTo>
                    <a:pt x="0" y="43508"/>
                  </a:lnTo>
                  <a:cubicBezTo>
                    <a:pt x="0" y="19479"/>
                    <a:pt x="19479" y="0"/>
                    <a:pt x="43508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7"/>
            <p:cNvSpPr txBox="1"/>
            <p:nvPr/>
          </p:nvSpPr>
          <p:spPr>
            <a:xfrm>
              <a:off x="0" y="-38100"/>
              <a:ext cx="1687200" cy="13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7"/>
          <p:cNvSpPr txBox="1"/>
          <p:nvPr/>
        </p:nvSpPr>
        <p:spPr>
          <a:xfrm>
            <a:off x="2144165" y="1374852"/>
            <a:ext cx="139998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9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OUR TECH STACK</a:t>
            </a:r>
            <a:endParaRPr/>
          </a:p>
        </p:txBody>
      </p:sp>
      <p:grpSp>
        <p:nvGrpSpPr>
          <p:cNvPr id="254" name="Google Shape;254;p7"/>
          <p:cNvGrpSpPr/>
          <p:nvPr/>
        </p:nvGrpSpPr>
        <p:grpSpPr>
          <a:xfrm>
            <a:off x="6752685" y="3607550"/>
            <a:ext cx="4968804" cy="4936729"/>
            <a:chOff x="0" y="-38100"/>
            <a:chExt cx="1687200" cy="1300200"/>
          </a:xfrm>
        </p:grpSpPr>
        <p:sp>
          <p:nvSpPr>
            <p:cNvPr id="255" name="Google Shape;255;p7"/>
            <p:cNvSpPr/>
            <p:nvPr/>
          </p:nvSpPr>
          <p:spPr>
            <a:xfrm>
              <a:off x="0" y="0"/>
              <a:ext cx="1687145" cy="1262019"/>
            </a:xfrm>
            <a:custGeom>
              <a:rect b="b" l="l" r="r" t="t"/>
              <a:pathLst>
                <a:path extrusionOk="0" h="1262019" w="1687145">
                  <a:moveTo>
                    <a:pt x="43508" y="0"/>
                  </a:moveTo>
                  <a:lnTo>
                    <a:pt x="1643636" y="0"/>
                  </a:lnTo>
                  <a:cubicBezTo>
                    <a:pt x="1667665" y="0"/>
                    <a:pt x="1687145" y="19479"/>
                    <a:pt x="1687145" y="43508"/>
                  </a:cubicBezTo>
                  <a:lnTo>
                    <a:pt x="1687145" y="1218511"/>
                  </a:lnTo>
                  <a:cubicBezTo>
                    <a:pt x="1687145" y="1242540"/>
                    <a:pt x="1667665" y="1262019"/>
                    <a:pt x="1643636" y="1262019"/>
                  </a:cubicBezTo>
                  <a:lnTo>
                    <a:pt x="43508" y="1262019"/>
                  </a:lnTo>
                  <a:cubicBezTo>
                    <a:pt x="19479" y="1262019"/>
                    <a:pt x="0" y="1242540"/>
                    <a:pt x="0" y="1218511"/>
                  </a:cubicBezTo>
                  <a:lnTo>
                    <a:pt x="0" y="43508"/>
                  </a:lnTo>
                  <a:cubicBezTo>
                    <a:pt x="0" y="19479"/>
                    <a:pt x="19479" y="0"/>
                    <a:pt x="43508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7"/>
            <p:cNvSpPr txBox="1"/>
            <p:nvPr/>
          </p:nvSpPr>
          <p:spPr>
            <a:xfrm>
              <a:off x="0" y="-38100"/>
              <a:ext cx="1687200" cy="13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7"/>
          <p:cNvGrpSpPr/>
          <p:nvPr/>
        </p:nvGrpSpPr>
        <p:grpSpPr>
          <a:xfrm>
            <a:off x="12467323" y="3607550"/>
            <a:ext cx="4968804" cy="4936729"/>
            <a:chOff x="0" y="-38100"/>
            <a:chExt cx="1687200" cy="1300200"/>
          </a:xfrm>
        </p:grpSpPr>
        <p:sp>
          <p:nvSpPr>
            <p:cNvPr id="258" name="Google Shape;258;p7"/>
            <p:cNvSpPr/>
            <p:nvPr/>
          </p:nvSpPr>
          <p:spPr>
            <a:xfrm>
              <a:off x="0" y="0"/>
              <a:ext cx="1687145" cy="1262019"/>
            </a:xfrm>
            <a:custGeom>
              <a:rect b="b" l="l" r="r" t="t"/>
              <a:pathLst>
                <a:path extrusionOk="0" h="1262019" w="1687145">
                  <a:moveTo>
                    <a:pt x="43508" y="0"/>
                  </a:moveTo>
                  <a:lnTo>
                    <a:pt x="1643636" y="0"/>
                  </a:lnTo>
                  <a:cubicBezTo>
                    <a:pt x="1667665" y="0"/>
                    <a:pt x="1687145" y="19479"/>
                    <a:pt x="1687145" y="43508"/>
                  </a:cubicBezTo>
                  <a:lnTo>
                    <a:pt x="1687145" y="1218511"/>
                  </a:lnTo>
                  <a:cubicBezTo>
                    <a:pt x="1687145" y="1242540"/>
                    <a:pt x="1667665" y="1262019"/>
                    <a:pt x="1643636" y="1262019"/>
                  </a:cubicBezTo>
                  <a:lnTo>
                    <a:pt x="43508" y="1262019"/>
                  </a:lnTo>
                  <a:cubicBezTo>
                    <a:pt x="19479" y="1262019"/>
                    <a:pt x="0" y="1242540"/>
                    <a:pt x="0" y="1218511"/>
                  </a:cubicBezTo>
                  <a:lnTo>
                    <a:pt x="0" y="43508"/>
                  </a:lnTo>
                  <a:cubicBezTo>
                    <a:pt x="0" y="19479"/>
                    <a:pt x="19479" y="0"/>
                    <a:pt x="43508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7"/>
            <p:cNvSpPr txBox="1"/>
            <p:nvPr/>
          </p:nvSpPr>
          <p:spPr>
            <a:xfrm>
              <a:off x="0" y="-38100"/>
              <a:ext cx="1687200" cy="13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7"/>
          <p:cNvSpPr txBox="1"/>
          <p:nvPr/>
        </p:nvSpPr>
        <p:spPr>
          <a:xfrm>
            <a:off x="1333500" y="3090300"/>
            <a:ext cx="43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Frontend</a:t>
            </a:r>
            <a:endParaRPr b="1" sz="36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7048138" y="3090300"/>
            <a:ext cx="43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Backend</a:t>
            </a:r>
            <a:endParaRPr b="1" sz="36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12762788" y="3090300"/>
            <a:ext cx="43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Smart Contracts</a:t>
            </a:r>
            <a:endParaRPr b="1" sz="3600"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63" name="Google Shape;2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5400" y="6621350"/>
            <a:ext cx="2044350" cy="153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1325" y="5284851"/>
            <a:ext cx="1932324" cy="167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7650" y="4030475"/>
            <a:ext cx="2423751" cy="242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985048" y="5105001"/>
            <a:ext cx="1530302" cy="16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94163" y="6868013"/>
            <a:ext cx="1252653" cy="129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462775" y="4583250"/>
            <a:ext cx="2985312" cy="2985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48137" y="4156451"/>
            <a:ext cx="4377902" cy="808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870412" y="5268687"/>
            <a:ext cx="1352125" cy="135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883620" y="6621338"/>
            <a:ext cx="1858026" cy="185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cd290b054_1_3"/>
          <p:cNvSpPr/>
          <p:nvPr/>
        </p:nvSpPr>
        <p:spPr>
          <a:xfrm>
            <a:off x="431360" y="491704"/>
            <a:ext cx="17613238" cy="9304528"/>
          </a:xfrm>
          <a:custGeom>
            <a:rect b="b" l="l" r="r" t="t"/>
            <a:pathLst>
              <a:path extrusionOk="0" h="812800" w="1538610">
                <a:moveTo>
                  <a:pt x="10111" y="0"/>
                </a:moveTo>
                <a:lnTo>
                  <a:pt x="1528500" y="0"/>
                </a:lnTo>
                <a:cubicBezTo>
                  <a:pt x="1534084" y="0"/>
                  <a:pt x="1538610" y="4527"/>
                  <a:pt x="1538610" y="10111"/>
                </a:cubicBezTo>
                <a:lnTo>
                  <a:pt x="1538610" y="802689"/>
                </a:lnTo>
                <a:cubicBezTo>
                  <a:pt x="1538610" y="808273"/>
                  <a:pt x="1534084" y="812800"/>
                  <a:pt x="1528500" y="812800"/>
                </a:cubicBezTo>
                <a:lnTo>
                  <a:pt x="10111" y="812800"/>
                </a:lnTo>
                <a:cubicBezTo>
                  <a:pt x="4527" y="812800"/>
                  <a:pt x="0" y="808273"/>
                  <a:pt x="0" y="802689"/>
                </a:cubicBezTo>
                <a:lnTo>
                  <a:pt x="0" y="10111"/>
                </a:lnTo>
                <a:cubicBezTo>
                  <a:pt x="0" y="4527"/>
                  <a:pt x="4527" y="0"/>
                  <a:pt x="101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" name="Google Shape;277;g35cd290b054_1_3"/>
          <p:cNvGrpSpPr/>
          <p:nvPr/>
        </p:nvGrpSpPr>
        <p:grpSpPr>
          <a:xfrm>
            <a:off x="-1703476" y="-580404"/>
            <a:ext cx="22876568" cy="11447809"/>
            <a:chOff x="0" y="0"/>
            <a:chExt cx="30502090" cy="15263745"/>
          </a:xfrm>
        </p:grpSpPr>
        <p:sp>
          <p:nvSpPr>
            <p:cNvPr id="278" name="Google Shape;278;g35cd290b054_1_3"/>
            <p:cNvSpPr/>
            <p:nvPr/>
          </p:nvSpPr>
          <p:spPr>
            <a:xfrm>
              <a:off x="0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9" name="Google Shape;279;g35cd290b054_1_3"/>
            <p:cNvSpPr/>
            <p:nvPr/>
          </p:nvSpPr>
          <p:spPr>
            <a:xfrm>
              <a:off x="15238345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80" name="Google Shape;280;g35cd290b054_1_3"/>
          <p:cNvSpPr txBox="1"/>
          <p:nvPr/>
        </p:nvSpPr>
        <p:spPr>
          <a:xfrm>
            <a:off x="2144165" y="1374852"/>
            <a:ext cx="139998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9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ROAD  MAP</a:t>
            </a:r>
            <a:endParaRPr/>
          </a:p>
        </p:txBody>
      </p:sp>
      <p:sp>
        <p:nvSpPr>
          <p:cNvPr id="281" name="Google Shape;281;g35cd290b054_1_3"/>
          <p:cNvSpPr txBox="1"/>
          <p:nvPr/>
        </p:nvSpPr>
        <p:spPr>
          <a:xfrm>
            <a:off x="1184699" y="2439350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Phase 1</a:t>
            </a:r>
            <a:endParaRPr b="1" sz="36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282" name="Google Shape;282;g35cd290b054_1_3"/>
          <p:cNvGrpSpPr/>
          <p:nvPr/>
        </p:nvGrpSpPr>
        <p:grpSpPr>
          <a:xfrm>
            <a:off x="991125" y="3086827"/>
            <a:ext cx="4501956" cy="3104488"/>
            <a:chOff x="0" y="-38100"/>
            <a:chExt cx="1687200" cy="1300200"/>
          </a:xfrm>
        </p:grpSpPr>
        <p:sp>
          <p:nvSpPr>
            <p:cNvPr id="283" name="Google Shape;283;g35cd290b054_1_3"/>
            <p:cNvSpPr/>
            <p:nvPr/>
          </p:nvSpPr>
          <p:spPr>
            <a:xfrm>
              <a:off x="0" y="0"/>
              <a:ext cx="1687145" cy="1262019"/>
            </a:xfrm>
            <a:custGeom>
              <a:rect b="b" l="l" r="r" t="t"/>
              <a:pathLst>
                <a:path extrusionOk="0" h="1262019" w="1687145">
                  <a:moveTo>
                    <a:pt x="43508" y="0"/>
                  </a:moveTo>
                  <a:lnTo>
                    <a:pt x="1643636" y="0"/>
                  </a:lnTo>
                  <a:cubicBezTo>
                    <a:pt x="1667665" y="0"/>
                    <a:pt x="1687145" y="19479"/>
                    <a:pt x="1687145" y="43508"/>
                  </a:cubicBezTo>
                  <a:lnTo>
                    <a:pt x="1687145" y="1218511"/>
                  </a:lnTo>
                  <a:cubicBezTo>
                    <a:pt x="1687145" y="1242540"/>
                    <a:pt x="1667665" y="1262019"/>
                    <a:pt x="1643636" y="1262019"/>
                  </a:cubicBezTo>
                  <a:lnTo>
                    <a:pt x="43508" y="1262019"/>
                  </a:lnTo>
                  <a:cubicBezTo>
                    <a:pt x="19479" y="1262019"/>
                    <a:pt x="0" y="1242540"/>
                    <a:pt x="0" y="1218511"/>
                  </a:cubicBezTo>
                  <a:lnTo>
                    <a:pt x="0" y="43508"/>
                  </a:lnTo>
                  <a:cubicBezTo>
                    <a:pt x="0" y="19479"/>
                    <a:pt x="19479" y="0"/>
                    <a:pt x="43508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g35cd290b054_1_3"/>
            <p:cNvSpPr txBox="1"/>
            <p:nvPr/>
          </p:nvSpPr>
          <p:spPr>
            <a:xfrm>
              <a:off x="0" y="-38100"/>
              <a:ext cx="1687200" cy="13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g35cd290b054_1_3"/>
          <p:cNvSpPr txBox="1"/>
          <p:nvPr/>
        </p:nvSpPr>
        <p:spPr>
          <a:xfrm>
            <a:off x="1184700" y="3429000"/>
            <a:ext cx="4114800" cy="25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Registration and Pseudonymous Identification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Real Estate Listings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Buy/Sell Mechanism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On-Chain Auction System 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Admin Panel (Basic)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86" name="Google Shape;286;g35cd290b054_1_3"/>
          <p:cNvSpPr txBox="1"/>
          <p:nvPr/>
        </p:nvSpPr>
        <p:spPr>
          <a:xfrm>
            <a:off x="7157587" y="4848375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Phase 2</a:t>
            </a:r>
            <a:endParaRPr b="1" sz="36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287" name="Google Shape;287;g35cd290b054_1_3"/>
          <p:cNvGrpSpPr/>
          <p:nvPr/>
        </p:nvGrpSpPr>
        <p:grpSpPr>
          <a:xfrm>
            <a:off x="6964013" y="5495852"/>
            <a:ext cx="4501956" cy="3104488"/>
            <a:chOff x="0" y="-38100"/>
            <a:chExt cx="1687200" cy="1300200"/>
          </a:xfrm>
        </p:grpSpPr>
        <p:sp>
          <p:nvSpPr>
            <p:cNvPr id="288" name="Google Shape;288;g35cd290b054_1_3"/>
            <p:cNvSpPr/>
            <p:nvPr/>
          </p:nvSpPr>
          <p:spPr>
            <a:xfrm>
              <a:off x="0" y="0"/>
              <a:ext cx="1687145" cy="1262019"/>
            </a:xfrm>
            <a:custGeom>
              <a:rect b="b" l="l" r="r" t="t"/>
              <a:pathLst>
                <a:path extrusionOk="0" h="1262019" w="1687145">
                  <a:moveTo>
                    <a:pt x="43508" y="0"/>
                  </a:moveTo>
                  <a:lnTo>
                    <a:pt x="1643636" y="0"/>
                  </a:lnTo>
                  <a:cubicBezTo>
                    <a:pt x="1667665" y="0"/>
                    <a:pt x="1687145" y="19479"/>
                    <a:pt x="1687145" y="43508"/>
                  </a:cubicBezTo>
                  <a:lnTo>
                    <a:pt x="1687145" y="1218511"/>
                  </a:lnTo>
                  <a:cubicBezTo>
                    <a:pt x="1687145" y="1242540"/>
                    <a:pt x="1667665" y="1262019"/>
                    <a:pt x="1643636" y="1262019"/>
                  </a:cubicBezTo>
                  <a:lnTo>
                    <a:pt x="43508" y="1262019"/>
                  </a:lnTo>
                  <a:cubicBezTo>
                    <a:pt x="19479" y="1262019"/>
                    <a:pt x="0" y="1242540"/>
                    <a:pt x="0" y="1218511"/>
                  </a:cubicBezTo>
                  <a:lnTo>
                    <a:pt x="0" y="43508"/>
                  </a:lnTo>
                  <a:cubicBezTo>
                    <a:pt x="0" y="19479"/>
                    <a:pt x="19479" y="0"/>
                    <a:pt x="43508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g35cd290b054_1_3"/>
            <p:cNvSpPr txBox="1"/>
            <p:nvPr/>
          </p:nvSpPr>
          <p:spPr>
            <a:xfrm>
              <a:off x="0" y="-38100"/>
              <a:ext cx="1687200" cy="13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g35cd290b054_1_3"/>
          <p:cNvSpPr txBox="1"/>
          <p:nvPr/>
        </p:nvSpPr>
        <p:spPr>
          <a:xfrm>
            <a:off x="7157588" y="5838025"/>
            <a:ext cx="4114800" cy="25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Fractional NFTs / ERC-20 Shares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Smart Revenue Distribution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Investment Rounds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P2P Share Marketplace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Analytics + Ratings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1" name="Google Shape;291;g35cd290b054_1_3"/>
          <p:cNvSpPr txBox="1"/>
          <p:nvPr/>
        </p:nvSpPr>
        <p:spPr>
          <a:xfrm>
            <a:off x="13130474" y="3267975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Phase 3</a:t>
            </a:r>
            <a:endParaRPr b="1" sz="36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292" name="Google Shape;292;g35cd290b054_1_3"/>
          <p:cNvGrpSpPr/>
          <p:nvPr/>
        </p:nvGrpSpPr>
        <p:grpSpPr>
          <a:xfrm>
            <a:off x="12936900" y="3915452"/>
            <a:ext cx="4501956" cy="3104488"/>
            <a:chOff x="0" y="-38100"/>
            <a:chExt cx="1687200" cy="1300200"/>
          </a:xfrm>
        </p:grpSpPr>
        <p:sp>
          <p:nvSpPr>
            <p:cNvPr id="293" name="Google Shape;293;g35cd290b054_1_3"/>
            <p:cNvSpPr/>
            <p:nvPr/>
          </p:nvSpPr>
          <p:spPr>
            <a:xfrm>
              <a:off x="0" y="0"/>
              <a:ext cx="1687145" cy="1262019"/>
            </a:xfrm>
            <a:custGeom>
              <a:rect b="b" l="l" r="r" t="t"/>
              <a:pathLst>
                <a:path extrusionOk="0" h="1262019" w="1687145">
                  <a:moveTo>
                    <a:pt x="43508" y="0"/>
                  </a:moveTo>
                  <a:lnTo>
                    <a:pt x="1643636" y="0"/>
                  </a:lnTo>
                  <a:cubicBezTo>
                    <a:pt x="1667665" y="0"/>
                    <a:pt x="1687145" y="19479"/>
                    <a:pt x="1687145" y="43508"/>
                  </a:cubicBezTo>
                  <a:lnTo>
                    <a:pt x="1687145" y="1218511"/>
                  </a:lnTo>
                  <a:cubicBezTo>
                    <a:pt x="1687145" y="1242540"/>
                    <a:pt x="1667665" y="1262019"/>
                    <a:pt x="1643636" y="1262019"/>
                  </a:cubicBezTo>
                  <a:lnTo>
                    <a:pt x="43508" y="1262019"/>
                  </a:lnTo>
                  <a:cubicBezTo>
                    <a:pt x="19479" y="1262019"/>
                    <a:pt x="0" y="1242540"/>
                    <a:pt x="0" y="1218511"/>
                  </a:cubicBezTo>
                  <a:lnTo>
                    <a:pt x="0" y="43508"/>
                  </a:lnTo>
                  <a:cubicBezTo>
                    <a:pt x="0" y="19479"/>
                    <a:pt x="19479" y="0"/>
                    <a:pt x="43508" y="0"/>
                  </a:cubicBezTo>
                  <a:close/>
                </a:path>
              </a:pathLst>
            </a:custGeom>
            <a:solidFill>
              <a:srgbClr val="F1F1F1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g35cd290b054_1_3"/>
            <p:cNvSpPr txBox="1"/>
            <p:nvPr/>
          </p:nvSpPr>
          <p:spPr>
            <a:xfrm>
              <a:off x="0" y="-38100"/>
              <a:ext cx="1687200" cy="13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g35cd290b054_1_3"/>
          <p:cNvSpPr txBox="1"/>
          <p:nvPr/>
        </p:nvSpPr>
        <p:spPr>
          <a:xfrm>
            <a:off x="13130475" y="4257625"/>
            <a:ext cx="4114800" cy="25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Real Estate-Backed Lending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Multi-Currency Support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Legal Bridge Layer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Global Commercial Real Estate Marketplace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47038"/>
              </a:lnSpc>
              <a:spcBef>
                <a:spcPts val="0"/>
              </a:spcBef>
              <a:spcAft>
                <a:spcPts val="0"/>
              </a:spcAft>
              <a:buClr>
                <a:srgbClr val="211F1C"/>
              </a:buClr>
              <a:buSzPts val="2000"/>
              <a:buFont typeface="Nunito Sans"/>
              <a:buChar char="●"/>
            </a:pPr>
            <a:r>
              <a:rPr b="1" lang="en-US" sz="20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Mobile Applicaion</a:t>
            </a:r>
            <a:endParaRPr b="1" sz="20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296" name="Google Shape;296;g35cd290b054_1_3"/>
          <p:cNvCxnSpPr>
            <a:endCxn id="289" idx="1"/>
          </p:cNvCxnSpPr>
          <p:nvPr/>
        </p:nvCxnSpPr>
        <p:spPr>
          <a:xfrm flipH="1" rot="-5400000">
            <a:off x="5024063" y="5108146"/>
            <a:ext cx="2409000" cy="1470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g35cd290b054_1_3"/>
          <p:cNvCxnSpPr>
            <a:stCxn id="289" idx="3"/>
            <a:endCxn id="294" idx="1"/>
          </p:cNvCxnSpPr>
          <p:nvPr/>
        </p:nvCxnSpPr>
        <p:spPr>
          <a:xfrm flipH="1" rot="10800000">
            <a:off x="11465968" y="5467696"/>
            <a:ext cx="1470900" cy="15804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1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03" name="Google Shape;303;p11"/>
            <p:cNvSpPr/>
            <p:nvPr/>
          </p:nvSpPr>
          <p:spPr>
            <a:xfrm>
              <a:off x="0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4" name="Google Shape;304;p11"/>
            <p:cNvSpPr/>
            <p:nvPr/>
          </p:nvSpPr>
          <p:spPr>
            <a:xfrm>
              <a:off x="15238345" y="0"/>
              <a:ext cx="15263745" cy="15263745"/>
            </a:xfrm>
            <a:custGeom>
              <a:rect b="b" l="l" r="r" t="t"/>
              <a:pathLst>
                <a:path extrusionOk="0"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05" name="Google Shape;305;p11"/>
          <p:cNvSpPr txBox="1"/>
          <p:nvPr/>
        </p:nvSpPr>
        <p:spPr>
          <a:xfrm>
            <a:off x="3519790" y="4109190"/>
            <a:ext cx="112485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32" u="none" cap="none" strike="noStrike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  <a:endParaRPr/>
          </a:p>
        </p:txBody>
      </p:sp>
      <p:sp>
        <p:nvSpPr>
          <p:cNvPr id="306" name="Google Shape;306;p11"/>
          <p:cNvSpPr txBox="1"/>
          <p:nvPr/>
        </p:nvSpPr>
        <p:spPr>
          <a:xfrm>
            <a:off x="5299672" y="5815064"/>
            <a:ext cx="766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11F1C"/>
                </a:solidFill>
                <a:latin typeface="Nunito Sans"/>
                <a:ea typeface="Nunito Sans"/>
                <a:cs typeface="Nunito Sans"/>
                <a:sym typeface="Nunito Sans"/>
              </a:rPr>
              <a:t>We’re ready for your questions!</a:t>
            </a:r>
            <a:endParaRPr sz="2200">
              <a:solidFill>
                <a:srgbClr val="211F1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2358180" y="4608658"/>
            <a:ext cx="354514" cy="354514"/>
          </a:xfrm>
          <a:custGeom>
            <a:rect b="b" l="l" r="r" t="t"/>
            <a:pathLst>
              <a:path extrusionOk="0" h="354514" w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11"/>
          <p:cNvSpPr/>
          <p:nvPr/>
        </p:nvSpPr>
        <p:spPr>
          <a:xfrm>
            <a:off x="15575306" y="4608658"/>
            <a:ext cx="354514" cy="354514"/>
          </a:xfrm>
          <a:custGeom>
            <a:rect b="b" l="l" r="r" t="t"/>
            <a:pathLst>
              <a:path extrusionOk="0" h="354514" w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